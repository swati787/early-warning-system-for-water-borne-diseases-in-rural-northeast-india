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20"/>
  </p:notesMasterIdLst>
  <p:sldIdLst>
    <p:sldId id="256" r:id="rId2"/>
    <p:sldId id="274" r:id="rId3"/>
    <p:sldId id="269" r:id="rId4"/>
    <p:sldId id="279" r:id="rId5"/>
    <p:sldId id="275" r:id="rId6"/>
    <p:sldId id="282" r:id="rId7"/>
    <p:sldId id="273" r:id="rId8"/>
    <p:sldId id="272" r:id="rId9"/>
    <p:sldId id="285" r:id="rId10"/>
    <p:sldId id="271" r:id="rId11"/>
    <p:sldId id="276" r:id="rId12"/>
    <p:sldId id="286" r:id="rId13"/>
    <p:sldId id="284" r:id="rId14"/>
    <p:sldId id="268" r:id="rId15"/>
    <p:sldId id="280" r:id="rId16"/>
    <p:sldId id="265" r:id="rId17"/>
    <p:sldId id="277" r:id="rId18"/>
    <p:sldId id="266" r:id="rId1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58720D0-7DB7-499F-BC54-E7425739B111}" v="31" dt="2026-04-21T08:19:55.071"/>
    <p1510:client id="{CE7DE235-C3F3-4F32-9C10-473E64F3508B}" v="2" dt="2026-04-21T10:30:47.620"/>
  </p1510:revLst>
</p1510:revInfo>
</file>

<file path=ppt/tableStyles.xml><?xml version="1.0" encoding="utf-8"?>
<a:tblStyleLst xmlns:a="http://schemas.openxmlformats.org/drawingml/2006/main" def="{90651C3A-4460-11DB-9652-00E08161165F}">
  <a:tblStyle styleId="{57690726-49DA-4552-BDEB-330DD8EA8BD9}" styleName="Table_0">
    <a:wholeTbl>
      <a:tcTxStyle b="off" i="off">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WATI PATILKULKARNI" userId="bae5dcc39bc01823" providerId="LiveId" clId="{4DAE5F79-20E3-44DA-9424-6A53EEA8C240}"/>
    <pc:docChg chg="modSld">
      <pc:chgData name="SWATI PATILKULKARNI" userId="bae5dcc39bc01823" providerId="LiveId" clId="{4DAE5F79-20E3-44DA-9424-6A53EEA8C240}" dt="2026-04-21T10:30:47.618" v="3" actId="14100"/>
      <pc:docMkLst>
        <pc:docMk/>
      </pc:docMkLst>
      <pc:sldChg chg="modSp mod">
        <pc:chgData name="SWATI PATILKULKARNI" userId="bae5dcc39bc01823" providerId="LiveId" clId="{4DAE5F79-20E3-44DA-9424-6A53EEA8C240}" dt="2026-04-21T10:30:47.618" v="3" actId="14100"/>
        <pc:sldMkLst>
          <pc:docMk/>
          <pc:sldMk cId="0" sldId="265"/>
        </pc:sldMkLst>
        <pc:spChg chg="mod">
          <ac:chgData name="SWATI PATILKULKARNI" userId="bae5dcc39bc01823" providerId="LiveId" clId="{4DAE5F79-20E3-44DA-9424-6A53EEA8C240}" dt="2026-04-21T10:30:47.618" v="3" actId="14100"/>
          <ac:spMkLst>
            <pc:docMk/>
            <pc:sldMk cId="0" sldId="265"/>
            <ac:spMk id="2" creationId="{BB71C89A-E4FC-1579-805E-000D9B480E38}"/>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02169620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4939560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552911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248305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0436789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5942109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667165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a16="http://schemas.microsoft.com/office/drawing/2014/main" id="{A4266035-E164-CBE9-9939-F1C8E5CBE4F4}"/>
            </a:ext>
          </a:extLst>
        </p:cNvPr>
        <p:cNvGrpSpPr/>
        <p:nvPr/>
      </p:nvGrpSpPr>
      <p:grpSpPr>
        <a:xfrm>
          <a:off x="0" y="0"/>
          <a:ext cx="0" cy="0"/>
          <a:chOff x="0" y="0"/>
          <a:chExt cx="0" cy="0"/>
        </a:xfrm>
      </p:grpSpPr>
      <p:sp>
        <p:nvSpPr>
          <p:cNvPr id="111" name="Google Shape;111;p5:notes">
            <a:extLst>
              <a:ext uri="{FF2B5EF4-FFF2-40B4-BE49-F238E27FC236}">
                <a16:creationId xmlns:a16="http://schemas.microsoft.com/office/drawing/2014/main" id="{186DA9E2-748C-8A4D-475F-307EF23F439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a:extLst>
              <a:ext uri="{FF2B5EF4-FFF2-40B4-BE49-F238E27FC236}">
                <a16:creationId xmlns:a16="http://schemas.microsoft.com/office/drawing/2014/main" id="{AD8EDDAA-54B5-B8C3-C54D-2E31CD6C8B9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9189430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8124313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6D137FCF-0A45-57AA-6FF5-B8146DAD9522}"/>
            </a:ext>
          </a:extLst>
        </p:cNvPr>
        <p:cNvGrpSpPr/>
        <p:nvPr/>
      </p:nvGrpSpPr>
      <p:grpSpPr>
        <a:xfrm>
          <a:off x="0" y="0"/>
          <a:ext cx="0" cy="0"/>
          <a:chOff x="0" y="0"/>
          <a:chExt cx="0" cy="0"/>
        </a:xfrm>
      </p:grpSpPr>
      <p:sp>
        <p:nvSpPr>
          <p:cNvPr id="141" name="Google Shape;141;p10:notes">
            <a:extLst>
              <a:ext uri="{FF2B5EF4-FFF2-40B4-BE49-F238E27FC236}">
                <a16:creationId xmlns:a16="http://schemas.microsoft.com/office/drawing/2014/main" id="{076BBFB3-337B-5F3A-40C6-B9ACB72D0A7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a:extLst>
              <a:ext uri="{FF2B5EF4-FFF2-40B4-BE49-F238E27FC236}">
                <a16:creationId xmlns:a16="http://schemas.microsoft.com/office/drawing/2014/main" id="{A274E643-F1C1-A61D-CF28-70D7A146286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6497293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58435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pic>
        <p:nvPicPr>
          <p:cNvPr id="52" name="Google Shape;52;p7" descr="C:\Users\AMMU\Desktop\Border.png"/>
          <p:cNvPicPr preferRelativeResize="0"/>
          <p:nvPr/>
        </p:nvPicPr>
        <p:blipFill rotWithShape="1">
          <a:blip r:embed="rId2">
            <a:alphaModFix/>
          </a:blip>
          <a:src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txBody>
          <a:bodyPr/>
          <a:lstStyle/>
          <a:p>
            <a:endParaRPr lang="en-IN"/>
          </a:p>
        </p:txBody>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a:buNone/>
              <a:defRPr sz="2800" b="1" i="0" u="none" strike="noStrike" cap="none">
                <a:solidFill>
                  <a:srgbClr val="FF0000"/>
                </a:solidFill>
                <a:latin typeface="Verdana"/>
                <a:ea typeface="Verdana"/>
                <a:cs typeface="Verdana"/>
                <a:sym typeface="Verdan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a:ea typeface="Verdana"/>
                <a:cs typeface="Verdana"/>
                <a:sym typeface="Verdana"/>
              </a:defRPr>
            </a:lvl1pPr>
            <a:lvl2pPr marL="0" marR="0" lvl="1" indent="0" algn="r" rtl="0">
              <a:spcBef>
                <a:spcPts val="0"/>
              </a:spcBef>
              <a:buNone/>
              <a:defRPr sz="1200" b="0" i="0" u="none" strike="noStrike" cap="none">
                <a:solidFill>
                  <a:srgbClr val="888888"/>
                </a:solidFill>
                <a:latin typeface="Verdana"/>
                <a:ea typeface="Verdana"/>
                <a:cs typeface="Verdana"/>
                <a:sym typeface="Verdana"/>
              </a:defRPr>
            </a:lvl2pPr>
            <a:lvl3pPr marL="0" marR="0" lvl="2" indent="0" algn="r" rtl="0">
              <a:spcBef>
                <a:spcPts val="0"/>
              </a:spcBef>
              <a:buNone/>
              <a:defRPr sz="1200" b="0" i="0" u="none" strike="noStrike" cap="none">
                <a:solidFill>
                  <a:srgbClr val="888888"/>
                </a:solidFill>
                <a:latin typeface="Verdana"/>
                <a:ea typeface="Verdana"/>
                <a:cs typeface="Verdana"/>
                <a:sym typeface="Verdana"/>
              </a:defRPr>
            </a:lvl3pPr>
            <a:lvl4pPr marL="0" marR="0" lvl="3" indent="0" algn="r" rtl="0">
              <a:spcBef>
                <a:spcPts val="0"/>
              </a:spcBef>
              <a:buNone/>
              <a:defRPr sz="1200" b="0" i="0" u="none" strike="noStrike" cap="none">
                <a:solidFill>
                  <a:srgbClr val="888888"/>
                </a:solidFill>
                <a:latin typeface="Verdana"/>
                <a:ea typeface="Verdana"/>
                <a:cs typeface="Verdana"/>
                <a:sym typeface="Verdana"/>
              </a:defRPr>
            </a:lvl4pPr>
            <a:lvl5pPr marL="0" marR="0" lvl="4" indent="0" algn="r" rtl="0">
              <a:spcBef>
                <a:spcPts val="0"/>
              </a:spcBef>
              <a:buNone/>
              <a:defRPr sz="1200" b="0" i="0" u="none" strike="noStrike" cap="none">
                <a:solidFill>
                  <a:srgbClr val="888888"/>
                </a:solidFill>
                <a:latin typeface="Verdana"/>
                <a:ea typeface="Verdana"/>
                <a:cs typeface="Verdana"/>
                <a:sym typeface="Verdana"/>
              </a:defRPr>
            </a:lvl5pPr>
            <a:lvl6pPr marL="0" marR="0" lvl="5" indent="0" algn="r" rtl="0">
              <a:spcBef>
                <a:spcPts val="0"/>
              </a:spcBef>
              <a:buNone/>
              <a:defRPr sz="1200" b="0" i="0" u="none" strike="noStrike" cap="none">
                <a:solidFill>
                  <a:srgbClr val="888888"/>
                </a:solidFill>
                <a:latin typeface="Verdana"/>
                <a:ea typeface="Verdana"/>
                <a:cs typeface="Verdana"/>
                <a:sym typeface="Verdana"/>
              </a:defRPr>
            </a:lvl6pPr>
            <a:lvl7pPr marL="0" marR="0" lvl="6" indent="0" algn="r" rtl="0">
              <a:spcBef>
                <a:spcPts val="0"/>
              </a:spcBef>
              <a:buNone/>
              <a:defRPr sz="1200" b="0" i="0" u="none" strike="noStrike" cap="none">
                <a:solidFill>
                  <a:srgbClr val="888888"/>
                </a:solidFill>
                <a:latin typeface="Verdana"/>
                <a:ea typeface="Verdana"/>
                <a:cs typeface="Verdana"/>
                <a:sym typeface="Verdana"/>
              </a:defRPr>
            </a:lvl7pPr>
            <a:lvl8pPr marL="0" marR="0" lvl="7" indent="0" algn="r" rtl="0">
              <a:spcBef>
                <a:spcPts val="0"/>
              </a:spcBef>
              <a:buNone/>
              <a:defRPr sz="1200" b="0" i="0" u="none" strike="noStrike" cap="none">
                <a:solidFill>
                  <a:srgbClr val="888888"/>
                </a:solidFill>
                <a:latin typeface="Verdana"/>
                <a:ea typeface="Verdana"/>
                <a:cs typeface="Verdana"/>
                <a:sym typeface="Verdana"/>
              </a:defRPr>
            </a:lvl8pPr>
            <a:lvl9pPr marL="0" marR="0" lvl="8" indent="0" algn="r" rtl="0">
              <a:spcBef>
                <a:spcPts val="0"/>
              </a:spcBef>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GB"/>
              <a:t>‹#›</a:t>
            </a:fld>
            <a:endParaRPr/>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3">
            <a:alphaModFix/>
          </a:blip>
          <a:srcRect b="18046"/>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github.com/swati787/Early-Warning-System-for-Water-Borne-Diseases-in-Rural-Northeast-India"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69102"/>
            <a:ext cx="10247645" cy="852062"/>
          </a:xfrm>
          <a:prstGeom prst="rect">
            <a:avLst/>
          </a:prstGeom>
          <a:noFill/>
          <a:ln>
            <a:noFill/>
          </a:ln>
        </p:spPr>
        <p:txBody>
          <a:bodyPr spcFirstLastPara="1" wrap="square" lIns="91425" tIns="45700" rIns="91425" bIns="45700" anchor="ctr" anchorCtr="0">
            <a:noAutofit/>
          </a:bodyPr>
          <a:lstStyle/>
          <a:p>
            <a:pPr lvl="0" algn="ctr"/>
            <a:r>
              <a:rPr lang="en-US" sz="2400" dirty="0"/>
              <a:t>Smart Community Health Monitoring and Early Warning System for Water-Borne Diseases in Rural Northeast India</a:t>
            </a:r>
            <a:endParaRPr sz="2400" dirty="0">
              <a:solidFill>
                <a:schemeClr val="tx1"/>
              </a:solidFill>
              <a:latin typeface="Cambria" panose="02040503050406030204" pitchFamily="18" charset="0"/>
              <a:ea typeface="Cambria" panose="02040503050406030204" pitchFamily="18" charset="0"/>
            </a:endParaRPr>
          </a:p>
        </p:txBody>
      </p:sp>
      <p:sp>
        <p:nvSpPr>
          <p:cNvPr id="88" name="Google Shape;88;p13"/>
          <p:cNvSpPr txBox="1">
            <a:spLocks noGrp="1"/>
          </p:cNvSpPr>
          <p:nvPr>
            <p:ph type="subTitle" idx="1"/>
          </p:nvPr>
        </p:nvSpPr>
        <p:spPr>
          <a:xfrm>
            <a:off x="636659" y="2124454"/>
            <a:ext cx="4391131" cy="552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r>
              <a:rPr lang="en-GB" sz="1800" dirty="0">
                <a:latin typeface="Cambria" panose="02040503050406030204" pitchFamily="18" charset="0"/>
                <a:ea typeface="Cambria" panose="02040503050406030204" pitchFamily="18" charset="0"/>
              </a:rPr>
              <a:t>Batch Number: COM_61</a:t>
            </a:r>
            <a:endParaRPr sz="1800" dirty="0">
              <a:latin typeface="Cambria" panose="02040503050406030204" pitchFamily="18" charset="0"/>
              <a:ea typeface="Cambria" panose="02040503050406030204" pitchFamily="18" charset="0"/>
            </a:endParaRPr>
          </a:p>
        </p:txBody>
      </p:sp>
      <p:sp>
        <p:nvSpPr>
          <p:cNvPr id="90" name="Google Shape;90;p13"/>
          <p:cNvSpPr txBox="1"/>
          <p:nvPr/>
        </p:nvSpPr>
        <p:spPr>
          <a:xfrm>
            <a:off x="6480195" y="2513340"/>
            <a:ext cx="4960691"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Under the Supervision of,</a:t>
            </a:r>
            <a:endParaRPr sz="1800" dirty="0">
              <a:latin typeface="Cambria" panose="02040503050406030204" pitchFamily="18" charset="0"/>
              <a:ea typeface="Cambria" panose="02040503050406030204" pitchFamily="18" charset="0"/>
            </a:endParaRPr>
          </a:p>
          <a:p>
            <a:pPr marL="0" marR="0" lvl="0" indent="0" algn="ctr"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Ms. Sumita </a:t>
            </a:r>
            <a:r>
              <a:rPr lang="en-GB" sz="1700" b="1" i="0" u="none" strike="noStrike" cap="none" dirty="0" err="1">
                <a:solidFill>
                  <a:srgbClr val="17365D"/>
                </a:solidFill>
                <a:latin typeface="Cambria" panose="02040503050406030204" pitchFamily="18" charset="0"/>
                <a:ea typeface="Cambria" panose="02040503050406030204" pitchFamily="18" charset="0"/>
                <a:cs typeface="Verdana"/>
                <a:sym typeface="Verdana"/>
              </a:rPr>
              <a:t>Guddin</a:t>
            </a:r>
            <a:endPar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Assistant Professor</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School of Computer Science and Engineering</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91" name="Google Shape;91;p13"/>
          <p:cNvSpPr txBox="1"/>
          <p:nvPr/>
        </p:nvSpPr>
        <p:spPr>
          <a:xfrm>
            <a:off x="2832225" y="136441"/>
            <a:ext cx="5498973"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a:buNone/>
            </a:pPr>
            <a:r>
              <a:rPr lang="en-GB" sz="1800" b="1" dirty="0">
                <a:solidFill>
                  <a:srgbClr val="17365D"/>
                </a:solidFill>
                <a:latin typeface="Cambria" panose="02040503050406030204" pitchFamily="18" charset="0"/>
                <a:ea typeface="Cambria" panose="02040503050406030204" pitchFamily="18" charset="0"/>
                <a:cs typeface="Verdana"/>
                <a:sym typeface="Verdana"/>
              </a:rPr>
              <a:t>CSE7302-</a:t>
            </a: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 University Project</a:t>
            </a:r>
            <a:endParaRPr sz="1800"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a:buNone/>
            </a:pPr>
            <a:r>
              <a:rPr lang="en-GB" sz="1800" b="1" i="0" u="none" strike="noStrike" cap="none">
                <a:solidFill>
                  <a:srgbClr val="17365D"/>
                </a:solidFill>
                <a:latin typeface="Cambria" panose="02040503050406030204" pitchFamily="18" charset="0"/>
                <a:ea typeface="Cambria" panose="02040503050406030204" pitchFamily="18" charset="0"/>
                <a:cs typeface="Verdana"/>
                <a:sym typeface="Verdana"/>
              </a:rPr>
              <a:t>Review-3</a:t>
            </a:r>
            <a:endParaRPr sz="18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0" y="4533900"/>
            <a:ext cx="12249915"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a:buNone/>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COM</a:t>
            </a:r>
          </a:p>
          <a:p>
            <a:pPr lvl="0">
              <a:spcBef>
                <a:spcPts val="340"/>
              </a:spcBef>
              <a:buClr>
                <a:srgbClr val="17365D"/>
              </a:buClr>
              <a:buSzPts val="17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HoD: </a:t>
            </a:r>
            <a:r>
              <a:rPr lang="en-IN" sz="1800" b="1" dirty="0">
                <a:latin typeface="Cambria" panose="02040503050406030204" pitchFamily="18" charset="0"/>
                <a:ea typeface="Cambria" panose="02040503050406030204" pitchFamily="18" charset="0"/>
              </a:rPr>
              <a:t>Dr. </a:t>
            </a:r>
            <a:r>
              <a:rPr lang="en-GB" sz="1800" b="1" dirty="0">
                <a:solidFill>
                  <a:schemeClr val="tx1"/>
                </a:solidFill>
                <a:latin typeface="Cambria" panose="02040503050406030204" pitchFamily="18" charset="0"/>
                <a:ea typeface="Cambria" panose="02040503050406030204" pitchFamily="18" charset="0"/>
                <a:cs typeface="Verdana"/>
                <a:sym typeface="Verdana"/>
              </a:rPr>
              <a:t>Gopal Krishna Shyam</a:t>
            </a:r>
          </a:p>
          <a:p>
            <a:pPr lvl="0">
              <a:buClr>
                <a:srgbClr val="17365D"/>
              </a:buClr>
              <a:buSzPct val="100000"/>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Project Coordinator: </a:t>
            </a:r>
            <a:r>
              <a:rPr lang="en-IN" sz="1800" b="1" dirty="0">
                <a:latin typeface="Cambria" panose="02040503050406030204" pitchFamily="18" charset="0"/>
                <a:ea typeface="Cambria" panose="02040503050406030204" pitchFamily="18" charset="0"/>
              </a:rPr>
              <a:t>Ms. Sumita Guddin</a:t>
            </a: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School Project Coordinators: </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Dr. Sampath A K , Dr. Geetha A </a:t>
            </a:r>
            <a:endParaRPr sz="18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p:txBody>
      </p:sp>
      <p:graphicFrame>
        <p:nvGraphicFramePr>
          <p:cNvPr id="2" name="Table 1">
            <a:extLst>
              <a:ext uri="{FF2B5EF4-FFF2-40B4-BE49-F238E27FC236}">
                <a16:creationId xmlns:a16="http://schemas.microsoft.com/office/drawing/2014/main" id="{0D5C1EEA-2AC1-A581-356C-0B4DDB7697DE}"/>
              </a:ext>
            </a:extLst>
          </p:cNvPr>
          <p:cNvGraphicFramePr>
            <a:graphicFrameLocks noGrp="1"/>
          </p:cNvGraphicFramePr>
          <p:nvPr>
            <p:extLst>
              <p:ext uri="{D42A27DB-BD31-4B8C-83A1-F6EECF244321}">
                <p14:modId xmlns:p14="http://schemas.microsoft.com/office/powerpoint/2010/main" val="1764704519"/>
              </p:ext>
            </p:extLst>
          </p:nvPr>
        </p:nvGraphicFramePr>
        <p:xfrm>
          <a:off x="501443" y="2712670"/>
          <a:ext cx="4526347" cy="1112520"/>
        </p:xfrm>
        <a:graphic>
          <a:graphicData uri="http://schemas.openxmlformats.org/drawingml/2006/table">
            <a:tbl>
              <a:tblPr firstRow="1" bandRow="1"/>
              <a:tblGrid>
                <a:gridCol w="2176966">
                  <a:extLst>
                    <a:ext uri="{9D8B030D-6E8A-4147-A177-3AD203B41FA5}">
                      <a16:colId xmlns:a16="http://schemas.microsoft.com/office/drawing/2014/main" val="3372473620"/>
                    </a:ext>
                  </a:extLst>
                </a:gridCol>
                <a:gridCol w="2349381">
                  <a:extLst>
                    <a:ext uri="{9D8B030D-6E8A-4147-A177-3AD203B41FA5}">
                      <a16:colId xmlns:a16="http://schemas.microsoft.com/office/drawing/2014/main" val="1477541069"/>
                    </a:ext>
                  </a:extLst>
                </a:gridCol>
              </a:tblGrid>
              <a:tr h="370840">
                <a:tc>
                  <a:txBody>
                    <a:bodyPr/>
                    <a:lstStyle/>
                    <a:p>
                      <a:r>
                        <a:rPr lang="en-US" dirty="0"/>
                        <a:t>        Names</a:t>
                      </a:r>
                      <a:endParaRPr lang="en-IN" dirty="0"/>
                    </a:p>
                  </a:txBody>
                  <a:tcPr/>
                </a:tc>
                <a:tc>
                  <a:txBody>
                    <a:bodyPr/>
                    <a:lstStyle/>
                    <a:p>
                      <a:r>
                        <a:rPr lang="en-US" dirty="0"/>
                        <a:t>  Roll Number </a:t>
                      </a:r>
                      <a:endParaRPr lang="en-IN" dirty="0"/>
                    </a:p>
                  </a:txBody>
                  <a:tcPr/>
                </a:tc>
                <a:extLst>
                  <a:ext uri="{0D108BD9-81ED-4DB2-BD59-A6C34878D82A}">
                    <a16:rowId xmlns:a16="http://schemas.microsoft.com/office/drawing/2014/main" val="3597808825"/>
                  </a:ext>
                </a:extLst>
              </a:tr>
              <a:tr h="370840">
                <a:tc>
                  <a:txBody>
                    <a:bodyPr/>
                    <a:lstStyle/>
                    <a:p>
                      <a:r>
                        <a:rPr lang="en-US" dirty="0"/>
                        <a:t>Swati S Patilkulkarni</a:t>
                      </a:r>
                      <a:endParaRPr lang="en-IN" dirty="0"/>
                    </a:p>
                  </a:txBody>
                  <a:tcPr/>
                </a:tc>
                <a:tc>
                  <a:txBody>
                    <a:bodyPr/>
                    <a:lstStyle/>
                    <a:p>
                      <a:r>
                        <a:rPr lang="en-US" dirty="0"/>
                        <a:t>20221COM0148</a:t>
                      </a:r>
                      <a:endParaRPr lang="en-IN" dirty="0"/>
                    </a:p>
                  </a:txBody>
                  <a:tcPr/>
                </a:tc>
                <a:extLst>
                  <a:ext uri="{0D108BD9-81ED-4DB2-BD59-A6C34878D82A}">
                    <a16:rowId xmlns:a16="http://schemas.microsoft.com/office/drawing/2014/main" val="1873050658"/>
                  </a:ext>
                </a:extLst>
              </a:tr>
              <a:tr h="37084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Preeti S Patilkulkarni</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20221COM0142</a:t>
                      </a:r>
                      <a:endParaRPr lang="en-IN" dirty="0"/>
                    </a:p>
                  </a:txBody>
                  <a:tcPr/>
                </a:tc>
                <a:extLst>
                  <a:ext uri="{0D108BD9-81ED-4DB2-BD59-A6C34878D82A}">
                    <a16:rowId xmlns:a16="http://schemas.microsoft.com/office/drawing/2014/main" val="1206046961"/>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412955" y="968828"/>
            <a:ext cx="10910827" cy="5510629"/>
          </a:xfrm>
          <a:prstGeom prst="rect">
            <a:avLst/>
          </a:prstGeom>
          <a:noFill/>
          <a:ln>
            <a:noFill/>
          </a:ln>
        </p:spPr>
        <p:txBody>
          <a:bodyPr spcFirstLastPara="1" wrap="square" lIns="91425" tIns="45700" rIns="91425" bIns="45700" anchor="t" anchorCtr="0">
            <a:noAutofit/>
          </a:bodyPr>
          <a:lstStyle/>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r>
              <a:rPr lang="en-US" sz="1600" dirty="0">
                <a:latin typeface="Cambria" panose="02040503050406030204" pitchFamily="18" charset="0"/>
                <a:ea typeface="Cambria" panose="02040503050406030204" pitchFamily="18" charset="0"/>
              </a:rPr>
              <a:t>Abstract</a:t>
            </a: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r>
              <a:rPr lang="en-US" sz="1600" dirty="0">
                <a:latin typeface="Cambria" panose="02040503050406030204" pitchFamily="18" charset="0"/>
                <a:ea typeface="Cambria" panose="02040503050406030204" pitchFamily="18" charset="0"/>
              </a:rPr>
              <a:t>Problem Statement</a:t>
            </a: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r>
              <a:rPr lang="en-US" sz="1600" dirty="0">
                <a:latin typeface="Cambria" panose="02040503050406030204" pitchFamily="18" charset="0"/>
                <a:ea typeface="Cambria" panose="02040503050406030204" pitchFamily="18" charset="0"/>
              </a:rPr>
              <a:t>Objectives</a:t>
            </a: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r>
              <a:rPr lang="en-US" sz="1600" dirty="0">
                <a:latin typeface="Cambria" panose="02040503050406030204" pitchFamily="18" charset="0"/>
                <a:ea typeface="Cambria" panose="02040503050406030204" pitchFamily="18" charset="0"/>
              </a:rPr>
              <a:t>Literature Survey</a:t>
            </a: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r>
              <a:rPr lang="en-US" sz="1600" dirty="0">
                <a:latin typeface="Cambria" panose="02040503050406030204" pitchFamily="18" charset="0"/>
                <a:ea typeface="Cambria" panose="02040503050406030204" pitchFamily="18" charset="0"/>
              </a:rPr>
              <a:t>Existing methods and drawbacks</a:t>
            </a: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r>
              <a:rPr lang="en-US" sz="1600" dirty="0">
                <a:latin typeface="Cambria" panose="02040503050406030204" pitchFamily="18" charset="0"/>
                <a:ea typeface="Cambria" panose="02040503050406030204" pitchFamily="18" charset="0"/>
              </a:rPr>
              <a:t>Proposed System</a:t>
            </a:r>
          </a:p>
          <a:p>
            <a:pPr marL="495300" indent="-342900" algn="just">
              <a:lnSpc>
                <a:spcPct val="200000"/>
              </a:lnSpc>
              <a:spcBef>
                <a:spcPts val="0"/>
              </a:spcBef>
              <a:buFont typeface="Wingdings" panose="05000000000000000000" pitchFamily="2" charset="2"/>
              <a:buChar char="Ø"/>
            </a:pPr>
            <a:r>
              <a:rPr lang="en-US" sz="1600" dirty="0">
                <a:latin typeface="Cambria" panose="02040503050406030204" pitchFamily="18" charset="0"/>
                <a:ea typeface="Cambria" panose="02040503050406030204" pitchFamily="18" charset="0"/>
              </a:rPr>
              <a:t>Methodology</a:t>
            </a: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r>
              <a:rPr lang="en-US" sz="1600" dirty="0">
                <a:latin typeface="Cambria" panose="02040503050406030204" pitchFamily="18" charset="0"/>
                <a:ea typeface="Cambria" panose="02040503050406030204" pitchFamily="18" charset="0"/>
              </a:rPr>
              <a:t>Architecture</a:t>
            </a: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r>
              <a:rPr lang="en-US" sz="1600" dirty="0">
                <a:latin typeface="Cambria" panose="02040503050406030204" pitchFamily="18" charset="0"/>
                <a:ea typeface="Cambria" panose="02040503050406030204" pitchFamily="18" charset="0"/>
              </a:rPr>
              <a:t>Modules</a:t>
            </a:r>
          </a:p>
          <a:p>
            <a:pPr marL="495300" indent="-342900" algn="just">
              <a:lnSpc>
                <a:spcPct val="200000"/>
              </a:lnSpc>
              <a:spcBef>
                <a:spcPts val="0"/>
              </a:spcBef>
              <a:buFont typeface="Wingdings" panose="05000000000000000000" pitchFamily="2" charset="2"/>
              <a:buChar char="Ø"/>
            </a:pPr>
            <a:r>
              <a:rPr lang="en-US" sz="1600" dirty="0">
                <a:latin typeface="Cambria" panose="02040503050406030204" pitchFamily="18" charset="0"/>
                <a:ea typeface="Cambria" panose="02040503050406030204" pitchFamily="18" charset="0"/>
              </a:rPr>
              <a:t>Software and Hardware Requirements</a:t>
            </a:r>
          </a:p>
          <a:p>
            <a:pPr marL="152400" lvl="0" indent="0" algn="just" rtl="0">
              <a:lnSpc>
                <a:spcPct val="200000"/>
              </a:lnSpc>
              <a:spcBef>
                <a:spcPts val="0"/>
              </a:spcBef>
              <a:spcAft>
                <a:spcPts val="0"/>
              </a:spcAft>
              <a:buClr>
                <a:schemeClr val="dk1"/>
              </a:buClr>
              <a:buSzPts val="2400"/>
              <a:buNone/>
            </a:pPr>
            <a:endParaRPr sz="16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6379795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ABSTRACT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p>
            <a:r>
              <a:rPr lang="en-US" sz="2000" dirty="0"/>
              <a:t>Water-borne diseases such as diarrhea, cholera, and typhoid are major health issues in rural areas due to unsafe water and poor sanitation. Existing monitoring systems are mostly manual and reactive, leading to delayed outbreak detection. This project proposes a Machine Learning-based early warning system to predict disease risk at the village level.</a:t>
            </a:r>
          </a:p>
          <a:p>
            <a:r>
              <a:rPr lang="en-US" sz="2000" dirty="0"/>
              <a:t>The system uses factors like season, rainfall, water source, and disease cases to analyze patterns and forecast outbreaks. Machine learning models such as Logistic Regression and Random Forest are applied to classify risk into Low, Medium, and High levels.</a:t>
            </a:r>
          </a:p>
          <a:p>
            <a:r>
              <a:rPr lang="en-US" sz="2000" dirty="0"/>
              <a:t>This approach enables early detection and helps healthcare authorities take preventive measures to reduce the spread of diseases.</a:t>
            </a:r>
          </a:p>
          <a:p>
            <a:pPr marL="342900" lvl="0" indent="-190500" algn="just">
              <a:spcBef>
                <a:spcPts val="0"/>
              </a:spcBef>
              <a:buNone/>
            </a:pPr>
            <a:endParaRPr lang="en-US" sz="20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1434518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7CEFE5-EF93-BFA9-3561-88A53CEB14AD}"/>
              </a:ext>
            </a:extLst>
          </p:cNvPr>
          <p:cNvSpPr>
            <a:spLocks noGrp="1"/>
          </p:cNvSpPr>
          <p:nvPr>
            <p:ph type="title"/>
          </p:nvPr>
        </p:nvSpPr>
        <p:spPr/>
        <p:txBody>
          <a:bodyPr/>
          <a:lstStyle/>
          <a:p>
            <a:r>
              <a:rPr lang="en-IN" dirty="0"/>
              <a:t>PROBLEM STATEMENT</a:t>
            </a:r>
          </a:p>
        </p:txBody>
      </p:sp>
      <p:sp>
        <p:nvSpPr>
          <p:cNvPr id="3" name="Rectangle 1">
            <a:extLst>
              <a:ext uri="{FF2B5EF4-FFF2-40B4-BE49-F238E27FC236}">
                <a16:creationId xmlns:a16="http://schemas.microsoft.com/office/drawing/2014/main" id="{63051CEA-FB0A-78D3-88BD-6B740F29CEA0}"/>
              </a:ext>
            </a:extLst>
          </p:cNvPr>
          <p:cNvSpPr>
            <a:spLocks noGrp="1" noChangeArrowheads="1"/>
          </p:cNvSpPr>
          <p:nvPr>
            <p:ph type="body" idx="1"/>
          </p:nvPr>
        </p:nvSpPr>
        <p:spPr bwMode="auto">
          <a:xfrm>
            <a:off x="914400" y="2007364"/>
            <a:ext cx="10485120" cy="26827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000" dirty="0"/>
              <a:t>Water-borne diseases are highly prevalent in rural areas due to unsafe drinking water and poor sanitation facilities. Current health monitoring systems rely on manual data collection and are mostly reactive, leading to delays in identifying disease outbreaks.</a:t>
            </a:r>
          </a:p>
          <a:p>
            <a:r>
              <a:rPr lang="en-US" sz="2000" dirty="0"/>
              <a:t>There is no effective system to predict disease risk at the village level in advance. This results in late response and increased spread of infections, affecting public health significantly.</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461081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0AD08-820A-7F95-DBC5-ABEA333A6681}"/>
              </a:ext>
            </a:extLst>
          </p:cNvPr>
          <p:cNvSpPr>
            <a:spLocks noGrp="1"/>
          </p:cNvSpPr>
          <p:nvPr>
            <p:ph type="title"/>
          </p:nvPr>
        </p:nvSpPr>
        <p:spPr/>
        <p:txBody>
          <a:bodyPr/>
          <a:lstStyle/>
          <a:p>
            <a:r>
              <a:rPr lang="en-IN" dirty="0"/>
              <a:t>OBJECTIVES</a:t>
            </a:r>
            <a:endParaRPr lang="en-IN" dirty="0">
              <a:latin typeface="Cambria" panose="02040503050406030204" pitchFamily="18" charset="0"/>
              <a:ea typeface="Cambria" panose="02040503050406030204" pitchFamily="18" charset="0"/>
            </a:endParaRPr>
          </a:p>
        </p:txBody>
      </p:sp>
      <p:sp>
        <p:nvSpPr>
          <p:cNvPr id="3" name="Rectangle 1">
            <a:extLst>
              <a:ext uri="{FF2B5EF4-FFF2-40B4-BE49-F238E27FC236}">
                <a16:creationId xmlns:a16="http://schemas.microsoft.com/office/drawing/2014/main" id="{FA904785-7D41-BB7E-F0A3-CDFB2A665E1F}"/>
              </a:ext>
            </a:extLst>
          </p:cNvPr>
          <p:cNvSpPr>
            <a:spLocks noGrp="1" noChangeArrowheads="1"/>
          </p:cNvSpPr>
          <p:nvPr>
            <p:ph type="body" idx="1"/>
          </p:nvPr>
        </p:nvSpPr>
        <p:spPr bwMode="auto">
          <a:xfrm>
            <a:off x="935038" y="1798379"/>
            <a:ext cx="10668000"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800" b="0" i="0" u="none" strike="noStrike" cap="none" normalizeH="0" baseline="0" dirty="0">
                <a:ln>
                  <a:noFill/>
                </a:ln>
                <a:solidFill>
                  <a:schemeClr val="tx1"/>
                </a:solidFill>
                <a:effectLst/>
                <a:latin typeface="Arial" panose="020B0604020202020204" pitchFamily="34" charset="0"/>
              </a:rPr>
              <a:t>To analyze village-level health and environmental data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800" b="0" i="0" u="none" strike="noStrike" cap="none" normalizeH="0" baseline="0" dirty="0">
                <a:ln>
                  <a:noFill/>
                </a:ln>
                <a:solidFill>
                  <a:schemeClr val="tx1"/>
                </a:solidFill>
                <a:effectLst/>
                <a:latin typeface="Arial" panose="020B0604020202020204" pitchFamily="34" charset="0"/>
              </a:rPr>
              <a:t>To identify the relationship between water conditions and disease occurrence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800" b="0" i="0" u="none" strike="noStrike" cap="none" normalizeH="0" baseline="0" dirty="0">
                <a:ln>
                  <a:noFill/>
                </a:ln>
                <a:solidFill>
                  <a:schemeClr val="tx1"/>
                </a:solidFill>
                <a:effectLst/>
                <a:latin typeface="Arial" panose="020B0604020202020204" pitchFamily="34" charset="0"/>
              </a:rPr>
              <a:t>To develop a Machine Learning model for disease prediction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800" b="0" i="0" u="none" strike="noStrike" cap="none" normalizeH="0" baseline="0" dirty="0">
                <a:ln>
                  <a:noFill/>
                </a:ln>
                <a:solidFill>
                  <a:schemeClr val="tx1"/>
                </a:solidFill>
                <a:effectLst/>
                <a:latin typeface="Arial" panose="020B0604020202020204" pitchFamily="34" charset="0"/>
              </a:rPr>
              <a:t>To classify disease risk into Low, Medium, and High levels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800" b="0" i="0" u="none" strike="noStrike" cap="none" normalizeH="0" baseline="0" dirty="0">
                <a:ln>
                  <a:noFill/>
                </a:ln>
                <a:solidFill>
                  <a:schemeClr val="tx1"/>
                </a:solidFill>
                <a:effectLst/>
                <a:latin typeface="Arial" panose="020B0604020202020204" pitchFamily="34" charset="0"/>
              </a:rPr>
              <a:t>To provide an early warning system for preventive action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0289972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DD630E-6A2B-B698-569C-B3D5D6F2CB30}"/>
              </a:ext>
            </a:extLst>
          </p:cNvPr>
          <p:cNvSpPr>
            <a:spLocks noGrp="1"/>
          </p:cNvSpPr>
          <p:nvPr>
            <p:ph type="title"/>
          </p:nvPr>
        </p:nvSpPr>
        <p:spPr/>
        <p:txBody>
          <a:bodyPr/>
          <a:lstStyle/>
          <a:p>
            <a:r>
              <a:rPr lang="en-US" dirty="0"/>
              <a:t>Literature Survey</a:t>
            </a:r>
            <a:endParaRPr lang="en-IN" dirty="0"/>
          </a:p>
        </p:txBody>
      </p:sp>
      <p:sp>
        <p:nvSpPr>
          <p:cNvPr id="3" name="Rectangle 1">
            <a:extLst>
              <a:ext uri="{FF2B5EF4-FFF2-40B4-BE49-F238E27FC236}">
                <a16:creationId xmlns:a16="http://schemas.microsoft.com/office/drawing/2014/main" id="{2CB96B74-1BF5-9AB1-4A30-AAF279FB63C3}"/>
              </a:ext>
            </a:extLst>
          </p:cNvPr>
          <p:cNvSpPr>
            <a:spLocks noGrp="1" noChangeArrowheads="1"/>
          </p:cNvSpPr>
          <p:nvPr>
            <p:ph type="body" idx="1"/>
          </p:nvPr>
        </p:nvSpPr>
        <p:spPr bwMode="auto">
          <a:xfrm>
            <a:off x="812800" y="1025595"/>
            <a:ext cx="10651990"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2000" b="0" i="0" u="none" strike="noStrike" cap="none" normalizeH="0" baseline="0" dirty="0">
                <a:ln>
                  <a:noFill/>
                </a:ln>
                <a:solidFill>
                  <a:schemeClr val="tx1"/>
                </a:solidFill>
                <a:effectLst/>
                <a:latin typeface="Arial" panose="020B0604020202020204" pitchFamily="34" charset="0"/>
              </a:rPr>
              <a:t>WHO (2023): Emphasized early detection of water-borne diseases</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2000" b="0" i="0" u="none" strike="noStrike" cap="none" normalizeH="0" baseline="0" dirty="0">
                <a:ln>
                  <a:noFill/>
                </a:ln>
                <a:solidFill>
                  <a:schemeClr val="tx1"/>
                </a:solidFill>
                <a:effectLst/>
                <a:latin typeface="Arial" panose="020B0604020202020204" pitchFamily="34" charset="0"/>
              </a:rPr>
              <a:t>IEEE (2022): ML-based disease outbreak prediction</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2000" b="0" i="0" u="none" strike="noStrike" cap="none" normalizeH="0" baseline="0" dirty="0">
                <a:ln>
                  <a:noFill/>
                </a:ln>
                <a:solidFill>
                  <a:schemeClr val="tx1"/>
                </a:solidFill>
                <a:effectLst/>
                <a:latin typeface="Arial" panose="020B0604020202020204" pitchFamily="34" charset="0"/>
              </a:rPr>
              <a:t>Springer (2021): Data analytics in public health monitoring</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2000" b="0" i="0" u="none" strike="noStrike" cap="none" normalizeH="0" baseline="0" dirty="0">
                <a:ln>
                  <a:noFill/>
                </a:ln>
                <a:solidFill>
                  <a:schemeClr val="tx1"/>
                </a:solidFill>
                <a:effectLst/>
                <a:latin typeface="Arial" panose="020B0604020202020204" pitchFamily="34" charset="0"/>
              </a:rPr>
              <a:t>Elsevier (2020): Impact of water contamination on disease spread</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2000" b="0" i="0" u="none" strike="noStrike" cap="none" normalizeH="0" baseline="0" dirty="0">
                <a:ln>
                  <a:noFill/>
                </a:ln>
                <a:solidFill>
                  <a:schemeClr val="tx1"/>
                </a:solidFill>
                <a:effectLst/>
                <a:latin typeface="Arial" panose="020B0604020202020204" pitchFamily="34" charset="0"/>
              </a:rPr>
              <a:t>MDPI (2024): Machine learning for water quality prediction</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indent="0" eaLnBrk="0" fontAlgn="base" hangingPunct="0">
              <a:spcBef>
                <a:spcPct val="0"/>
              </a:spcBef>
              <a:spcAft>
                <a:spcPct val="0"/>
              </a:spcAft>
              <a:buClrTx/>
              <a:buSzTx/>
              <a:buNone/>
            </a:pPr>
            <a:r>
              <a:rPr lang="en-US" sz="1800" b="1" dirty="0"/>
              <a:t>Research Gap:</a:t>
            </a:r>
            <a:br>
              <a:rPr lang="en-US" sz="1800" dirty="0"/>
            </a:br>
            <a:r>
              <a:rPr lang="en-US" sz="1800" dirty="0"/>
              <a:t>Most studies focus on urban or historical data and lack village-level early warning systems.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0488322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IN" dirty="0"/>
              <a:t>EXISTING METHODS &amp; DRAWBACKS</a:t>
            </a:r>
            <a:endParaRPr lang="en-US" dirty="0">
              <a:latin typeface="Cambria" panose="02040503050406030204" pitchFamily="18" charset="0"/>
              <a:ea typeface="Cambria" panose="02040503050406030204" pitchFamily="18" charset="0"/>
            </a:endParaRPr>
          </a:p>
        </p:txBody>
      </p:sp>
      <p:sp>
        <p:nvSpPr>
          <p:cNvPr id="2" name="Text Placeholder 1">
            <a:extLst>
              <a:ext uri="{FF2B5EF4-FFF2-40B4-BE49-F238E27FC236}">
                <a16:creationId xmlns:a16="http://schemas.microsoft.com/office/drawing/2014/main" id="{5F08310B-EB53-2410-CFDE-FDB3A0B160E1}"/>
              </a:ext>
            </a:extLst>
          </p:cNvPr>
          <p:cNvSpPr>
            <a:spLocks noGrp="1" noChangeArrowheads="1"/>
          </p:cNvSpPr>
          <p:nvPr>
            <p:ph type="body" idx="1"/>
          </p:nvPr>
        </p:nvSpPr>
        <p:spPr bwMode="auto">
          <a:xfrm>
            <a:off x="1002890" y="2595784"/>
            <a:ext cx="10569350" cy="151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76200" indent="0">
              <a:buNone/>
            </a:pPr>
            <a:endParaRPr lang="en-US" sz="2000" b="1" dirty="0"/>
          </a:p>
          <a:p>
            <a:pPr marL="76200" indent="0">
              <a:buNone/>
            </a:pPr>
            <a:endParaRPr lang="en-US" sz="2000" dirty="0"/>
          </a:p>
          <a:p>
            <a:pPr marL="76200" indent="0">
              <a:buNone/>
            </a:pPr>
            <a:endParaRPr lang="en-US" sz="2000" b="1" dirty="0"/>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
        <p:nvSpPr>
          <p:cNvPr id="3" name="Rectangle 1">
            <a:extLst>
              <a:ext uri="{FF2B5EF4-FFF2-40B4-BE49-F238E27FC236}">
                <a16:creationId xmlns:a16="http://schemas.microsoft.com/office/drawing/2014/main" id="{B4880AE3-8129-F884-4091-A099F9179612}"/>
              </a:ext>
            </a:extLst>
          </p:cNvPr>
          <p:cNvSpPr>
            <a:spLocks noChangeArrowheads="1"/>
          </p:cNvSpPr>
          <p:nvPr/>
        </p:nvSpPr>
        <p:spPr bwMode="auto">
          <a:xfrm>
            <a:off x="1002890" y="1027754"/>
            <a:ext cx="6548284"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Existing Methods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Manual health monitoring and surveys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No automation in prediction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Analysis based on historical data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endParaRPr lang="en-US" altLang="en-US" sz="1800" dirty="0">
              <a:solidFill>
                <a:schemeClr val="tx1"/>
              </a:solidFill>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Drawbacks</a:t>
            </a:r>
          </a:p>
          <a:p>
            <a:pPr marR="0" lvl="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3">
            <a:extLst>
              <a:ext uri="{FF2B5EF4-FFF2-40B4-BE49-F238E27FC236}">
                <a16:creationId xmlns:a16="http://schemas.microsoft.com/office/drawing/2014/main" id="{B65F54DD-C2E7-FF63-71BF-7F705C0DBDC4}"/>
              </a:ext>
            </a:extLst>
          </p:cNvPr>
          <p:cNvSpPr>
            <a:spLocks noChangeArrowheads="1"/>
          </p:cNvSpPr>
          <p:nvPr/>
        </p:nvSpPr>
        <p:spPr bwMode="auto">
          <a:xfrm>
            <a:off x="1002890" y="2607300"/>
            <a:ext cx="5135152"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8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Time-consuming process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Reactive approach (action taken after outbreak)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Delayed detection of disease outbreaks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No real-time or village-level prediction </a:t>
            </a:r>
          </a:p>
        </p:txBody>
      </p:sp>
    </p:spTree>
    <p:extLst>
      <p:ext uri="{BB962C8B-B14F-4D97-AF65-F5344CB8AC3E}">
        <p14:creationId xmlns:p14="http://schemas.microsoft.com/office/powerpoint/2010/main" val="10308161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IN" dirty="0"/>
              <a:t>PROPOSED SYSTEM</a:t>
            </a:r>
            <a:endParaRPr lang="en-US"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952500"/>
            <a:ext cx="10668000" cy="5154386"/>
          </a:xfrm>
          <a:prstGeom prst="rect">
            <a:avLst/>
          </a:prstGeom>
          <a:noFill/>
          <a:ln>
            <a:noFill/>
          </a:ln>
        </p:spPr>
        <p:txBody>
          <a:bodyPr spcFirstLastPara="1" wrap="square" lIns="91425" tIns="45700" rIns="91425" bIns="45700" anchor="t" anchorCtr="0">
            <a:normAutofit/>
          </a:bodyPr>
          <a:lstStyle/>
          <a:p>
            <a:r>
              <a:rPr lang="en-US" sz="2000" dirty="0"/>
              <a:t>This project proposes a </a:t>
            </a:r>
            <a:r>
              <a:rPr lang="en-US" sz="2000" b="1" dirty="0"/>
              <a:t>Machine Learning-based Smart Community Health Monitoring and Early Warning System</a:t>
            </a:r>
            <a:r>
              <a:rPr lang="en-US" sz="2000" dirty="0"/>
              <a:t> to predict water-borne disease risk at the village level.</a:t>
            </a:r>
          </a:p>
          <a:p>
            <a:r>
              <a:rPr lang="en-US" sz="2000" dirty="0"/>
              <a:t>The system collects and analyzes data such as season, rainfall, water source, and disease cases. Machine learning models are applied to identify patterns and predict the likelihood of disease outbreaks.</a:t>
            </a:r>
          </a:p>
          <a:p>
            <a:r>
              <a:rPr lang="en-US" sz="2000" dirty="0"/>
              <a:t>The output is classified into three risk levels: </a:t>
            </a:r>
            <a:r>
              <a:rPr lang="en-US" sz="2000" b="1" dirty="0"/>
              <a:t>Low, Medium, and High</a:t>
            </a:r>
            <a:r>
              <a:rPr lang="en-US" sz="2000" dirty="0"/>
              <a:t>, enabling early warning and timely preventive action by healthcare authorities.</a:t>
            </a:r>
          </a:p>
          <a:p>
            <a:pPr marL="76200" indent="0">
              <a:buNone/>
            </a:pPr>
            <a:endParaRPr lang="en-IN" sz="2000" dirty="0"/>
          </a:p>
        </p:txBody>
      </p:sp>
    </p:spTree>
    <p:extLst>
      <p:ext uri="{BB962C8B-B14F-4D97-AF65-F5344CB8AC3E}">
        <p14:creationId xmlns:p14="http://schemas.microsoft.com/office/powerpoint/2010/main" val="33388325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FA2BA6-FB19-DA7C-A065-E332EDBB2157}"/>
              </a:ext>
            </a:extLst>
          </p:cNvPr>
          <p:cNvSpPr>
            <a:spLocks noGrp="1"/>
          </p:cNvSpPr>
          <p:nvPr>
            <p:ph type="title"/>
          </p:nvPr>
        </p:nvSpPr>
        <p:spPr/>
        <p:txBody>
          <a:bodyPr/>
          <a:lstStyle/>
          <a:p>
            <a:r>
              <a:rPr lang="en-US" dirty="0"/>
              <a:t>METHODOLOGY</a:t>
            </a:r>
            <a:endParaRPr lang="en-IN" dirty="0"/>
          </a:p>
        </p:txBody>
      </p:sp>
      <p:sp>
        <p:nvSpPr>
          <p:cNvPr id="3" name="Text Placeholder 2">
            <a:extLst>
              <a:ext uri="{FF2B5EF4-FFF2-40B4-BE49-F238E27FC236}">
                <a16:creationId xmlns:a16="http://schemas.microsoft.com/office/drawing/2014/main" id="{2686A6F3-337C-2555-B20E-B79AD877043E}"/>
              </a:ext>
            </a:extLst>
          </p:cNvPr>
          <p:cNvSpPr>
            <a:spLocks noGrp="1"/>
          </p:cNvSpPr>
          <p:nvPr>
            <p:ph type="body" idx="1"/>
          </p:nvPr>
        </p:nvSpPr>
        <p:spPr/>
        <p:txBody>
          <a:bodyPr>
            <a:normAutofit fontScale="85000" lnSpcReduction="20000"/>
          </a:bodyPr>
          <a:lstStyle/>
          <a:p>
            <a:pPr marL="76200" indent="0">
              <a:buNone/>
            </a:pPr>
            <a:r>
              <a:rPr lang="en-US" dirty="0"/>
              <a:t>The proposed system follows a step-by-step process to predict water-borne disease risk:</a:t>
            </a:r>
          </a:p>
          <a:p>
            <a:r>
              <a:rPr lang="en-US" b="1" dirty="0"/>
              <a:t>Data Collection:</a:t>
            </a:r>
            <a:br>
              <a:rPr lang="en-US" dirty="0"/>
            </a:br>
            <a:r>
              <a:rPr lang="en-US" dirty="0"/>
              <a:t>Collect village-level data including season, rainfall, water source, and disease cases. </a:t>
            </a:r>
          </a:p>
          <a:p>
            <a:r>
              <a:rPr lang="en-US" b="1" dirty="0"/>
              <a:t>Data Preprocessing:</a:t>
            </a:r>
            <a:br>
              <a:rPr lang="en-US" dirty="0"/>
            </a:br>
            <a:r>
              <a:rPr lang="en-US" dirty="0"/>
              <a:t>Clean the data, handle missing values, and convert it into a structured format. </a:t>
            </a:r>
          </a:p>
          <a:p>
            <a:r>
              <a:rPr lang="en-US" b="1" dirty="0"/>
              <a:t>Feature Selection:</a:t>
            </a:r>
            <a:br>
              <a:rPr lang="en-US" dirty="0"/>
            </a:br>
            <a:r>
              <a:rPr lang="en-US" dirty="0"/>
              <a:t>Select important factors that influence disease spread, such as environmental and health indicators. </a:t>
            </a:r>
          </a:p>
          <a:p>
            <a:r>
              <a:rPr lang="en-US" b="1" dirty="0"/>
              <a:t>Model Training:</a:t>
            </a:r>
            <a:br>
              <a:rPr lang="en-US" dirty="0"/>
            </a:br>
            <a:r>
              <a:rPr lang="en-US" dirty="0"/>
              <a:t>Train Machine Learning models like Logistic Regression and Random Forest using the dataset. </a:t>
            </a:r>
          </a:p>
          <a:p>
            <a:r>
              <a:rPr lang="en-US" b="1" dirty="0"/>
              <a:t>Prediction &amp; Classification:</a:t>
            </a:r>
            <a:br>
              <a:rPr lang="en-US" dirty="0"/>
            </a:br>
            <a:r>
              <a:rPr lang="en-US" dirty="0"/>
              <a:t>The trained model predicts disease risk and classifies it into Low, Medium, or High levels.</a:t>
            </a:r>
          </a:p>
          <a:p>
            <a:pPr marL="76200" indent="0">
              <a:buNone/>
            </a:pPr>
            <a:endParaRPr lang="en-IN" dirty="0"/>
          </a:p>
        </p:txBody>
      </p:sp>
    </p:spTree>
    <p:extLst>
      <p:ext uri="{BB962C8B-B14F-4D97-AF65-F5344CB8AC3E}">
        <p14:creationId xmlns:p14="http://schemas.microsoft.com/office/powerpoint/2010/main" val="35589079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IN" dirty="0"/>
              <a:t>SYSTEM ARCHITECTURE</a:t>
            </a:r>
            <a:endParaRPr lang="en-US" dirty="0">
              <a:latin typeface="Cambria" panose="02040503050406030204" pitchFamily="18" charset="0"/>
              <a:ea typeface="Cambria" panose="02040503050406030204" pitchFamily="18" charset="0"/>
            </a:endParaRPr>
          </a:p>
        </p:txBody>
      </p:sp>
      <p:pic>
        <p:nvPicPr>
          <p:cNvPr id="5" name="Picture 4">
            <a:extLst>
              <a:ext uri="{FF2B5EF4-FFF2-40B4-BE49-F238E27FC236}">
                <a16:creationId xmlns:a16="http://schemas.microsoft.com/office/drawing/2014/main" id="{AA1460F9-BA37-DB07-6773-47652F9CF0F4}"/>
              </a:ext>
            </a:extLst>
          </p:cNvPr>
          <p:cNvPicPr>
            <a:picLocks noChangeAspect="1"/>
          </p:cNvPicPr>
          <p:nvPr/>
        </p:nvPicPr>
        <p:blipFill>
          <a:blip r:embed="rId3"/>
          <a:stretch>
            <a:fillRect/>
          </a:stretch>
        </p:blipFill>
        <p:spPr>
          <a:xfrm>
            <a:off x="2507226" y="938161"/>
            <a:ext cx="7809065" cy="5206043"/>
          </a:xfrm>
          <a:prstGeom prst="rect">
            <a:avLst/>
          </a:prstGeom>
        </p:spPr>
      </p:pic>
    </p:spTree>
    <p:extLst>
      <p:ext uri="{BB962C8B-B14F-4D97-AF65-F5344CB8AC3E}">
        <p14:creationId xmlns:p14="http://schemas.microsoft.com/office/powerpoint/2010/main" val="20004557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0D6AAB-DC76-7821-FB2F-6F5BFF71C528}"/>
              </a:ext>
            </a:extLst>
          </p:cNvPr>
          <p:cNvSpPr>
            <a:spLocks noGrp="1"/>
          </p:cNvSpPr>
          <p:nvPr>
            <p:ph type="title"/>
          </p:nvPr>
        </p:nvSpPr>
        <p:spPr/>
        <p:txBody>
          <a:bodyPr/>
          <a:lstStyle/>
          <a:p>
            <a:r>
              <a:rPr lang="en-IN" dirty="0"/>
              <a:t>MODULES</a:t>
            </a:r>
          </a:p>
        </p:txBody>
      </p:sp>
      <p:sp>
        <p:nvSpPr>
          <p:cNvPr id="3" name="Rectangle 1">
            <a:extLst>
              <a:ext uri="{FF2B5EF4-FFF2-40B4-BE49-F238E27FC236}">
                <a16:creationId xmlns:a16="http://schemas.microsoft.com/office/drawing/2014/main" id="{8CF411ED-3A45-6D61-BD86-9DC682667480}"/>
              </a:ext>
            </a:extLst>
          </p:cNvPr>
          <p:cNvSpPr>
            <a:spLocks noGrp="1" noChangeArrowheads="1"/>
          </p:cNvSpPr>
          <p:nvPr>
            <p:ph type="body" idx="1"/>
          </p:nvPr>
        </p:nvSpPr>
        <p:spPr bwMode="auto">
          <a:xfrm>
            <a:off x="985520" y="829219"/>
            <a:ext cx="10668000" cy="49141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76200" indent="0">
              <a:buNone/>
            </a:pPr>
            <a:r>
              <a:rPr lang="en-US" sz="2000" b="1" dirty="0"/>
              <a:t>1. Data Collection Module</a:t>
            </a:r>
          </a:p>
          <a:p>
            <a:pPr marL="76200" indent="0">
              <a:buNone/>
            </a:pPr>
            <a:r>
              <a:rPr lang="en-US" sz="2000" dirty="0"/>
              <a:t>Collects village-level data such as season, rainfall, water source, and disease case counts from health records and environmental sources.</a:t>
            </a:r>
          </a:p>
          <a:p>
            <a:pPr marL="76200" indent="0">
              <a:buNone/>
            </a:pPr>
            <a:br>
              <a:rPr lang="en-US" sz="2000" dirty="0"/>
            </a:br>
            <a:endParaRPr lang="en-US" sz="2000" dirty="0"/>
          </a:p>
          <a:p>
            <a:pPr marL="76200" indent="0">
              <a:buNone/>
            </a:pPr>
            <a:r>
              <a:rPr lang="en-US" sz="2000" b="1" dirty="0"/>
              <a:t>2. Data Preprocessing Module</a:t>
            </a:r>
          </a:p>
          <a:p>
            <a:pPr marL="76200" indent="0">
              <a:buNone/>
            </a:pPr>
            <a:r>
              <a:rPr lang="en-US" sz="2000" dirty="0"/>
              <a:t>Cleans the collected data by removing missing or incorrect values and converts it into a structured format suitable for analysis.</a:t>
            </a:r>
          </a:p>
          <a:p>
            <a:pPr marL="76200" indent="0">
              <a:buNone/>
            </a:pPr>
            <a:br>
              <a:rPr lang="en-US" sz="2000" dirty="0"/>
            </a:br>
            <a:endParaRPr lang="en-US" sz="2000" dirty="0"/>
          </a:p>
          <a:p>
            <a:pPr marL="76200" indent="0">
              <a:buNone/>
            </a:pPr>
            <a:r>
              <a:rPr lang="en-US" sz="2000" b="1" dirty="0"/>
              <a:t>3. Disease Prediction Module</a:t>
            </a:r>
          </a:p>
          <a:p>
            <a:pPr marL="76200" indent="0">
              <a:buNone/>
            </a:pPr>
            <a:r>
              <a:rPr lang="en-US" sz="2000" dirty="0"/>
              <a:t>Applies Machine Learning models like Logistic Regression and Random Forest to analyze data and predict disease risk.</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9096303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FCE182-0511-94F2-2DE9-1D27F7B1EBF0}"/>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AC1B5FCA-1C8A-CA3E-5917-263890614203}"/>
              </a:ext>
            </a:extLst>
          </p:cNvPr>
          <p:cNvSpPr>
            <a:spLocks noGrp="1"/>
          </p:cNvSpPr>
          <p:nvPr>
            <p:ph type="body" idx="1"/>
          </p:nvPr>
        </p:nvSpPr>
        <p:spPr/>
        <p:txBody>
          <a:bodyPr/>
          <a:lstStyle/>
          <a:p>
            <a:pPr marL="76200" indent="0">
              <a:buNone/>
            </a:pPr>
            <a:r>
              <a:rPr lang="en-US" sz="1400" dirty="0" err="1"/>
              <a:t>Cntd</a:t>
            </a:r>
            <a:endParaRPr lang="en-US" sz="1400" dirty="0"/>
          </a:p>
          <a:p>
            <a:pPr marL="76200" indent="0">
              <a:buNone/>
            </a:pPr>
            <a:r>
              <a:rPr lang="en-US" b="1" dirty="0"/>
              <a:t>4. Risk Classification Module</a:t>
            </a:r>
          </a:p>
          <a:p>
            <a:pPr marL="76200" indent="0">
              <a:buNone/>
            </a:pPr>
            <a:r>
              <a:rPr lang="en-US" dirty="0"/>
              <a:t>Classifies the predicted output into three categories:</a:t>
            </a:r>
          </a:p>
          <a:p>
            <a:pPr>
              <a:buFont typeface="Arial" panose="020B0604020202020204" pitchFamily="34" charset="0"/>
              <a:buChar char="•"/>
            </a:pPr>
            <a:r>
              <a:rPr lang="en-US" dirty="0"/>
              <a:t>Low Risk </a:t>
            </a:r>
          </a:p>
          <a:p>
            <a:pPr>
              <a:buFont typeface="Arial" panose="020B0604020202020204" pitchFamily="34" charset="0"/>
              <a:buChar char="•"/>
            </a:pPr>
            <a:r>
              <a:rPr lang="en-US" dirty="0"/>
              <a:t>Medium Risk </a:t>
            </a:r>
          </a:p>
          <a:p>
            <a:pPr>
              <a:buFont typeface="Arial" panose="020B0604020202020204" pitchFamily="34" charset="0"/>
              <a:buChar char="•"/>
            </a:pPr>
            <a:r>
              <a:rPr lang="en-US" dirty="0"/>
              <a:t>High Risk </a:t>
            </a:r>
          </a:p>
          <a:p>
            <a:endParaRPr lang="en-US" b="1" dirty="0"/>
          </a:p>
          <a:p>
            <a:pPr marL="76200" indent="0">
              <a:buNone/>
            </a:pPr>
            <a:r>
              <a:rPr lang="en-US" b="1" dirty="0"/>
              <a:t>5. Visualization &amp; Alert Module</a:t>
            </a:r>
          </a:p>
          <a:p>
            <a:pPr marL="76200" indent="0">
              <a:buNone/>
            </a:pPr>
            <a:r>
              <a:rPr lang="en-US" dirty="0"/>
              <a:t>Displays the results in a simple format and generates alerts to provide early warning for preventive action.</a:t>
            </a:r>
          </a:p>
          <a:p>
            <a:pPr marL="76200" indent="0">
              <a:buNone/>
            </a:pPr>
            <a:endParaRPr lang="en-IN" dirty="0"/>
          </a:p>
        </p:txBody>
      </p:sp>
    </p:spTree>
    <p:extLst>
      <p:ext uri="{BB962C8B-B14F-4D97-AF65-F5344CB8AC3E}">
        <p14:creationId xmlns:p14="http://schemas.microsoft.com/office/powerpoint/2010/main" val="3438506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9BF3E-CF73-7649-8FC3-1DB7545510C6}"/>
              </a:ext>
            </a:extLst>
          </p:cNvPr>
          <p:cNvSpPr>
            <a:spLocks noGrp="1"/>
          </p:cNvSpPr>
          <p:nvPr>
            <p:ph type="title"/>
          </p:nvPr>
        </p:nvSpPr>
        <p:spPr/>
        <p:txBody>
          <a:bodyPr/>
          <a:lstStyle/>
          <a:p>
            <a:r>
              <a:rPr lang="en-IN" dirty="0"/>
              <a:t>HARDWARE &amp; SOFTWARE REQUIREMENTS</a:t>
            </a:r>
          </a:p>
        </p:txBody>
      </p:sp>
      <p:sp>
        <p:nvSpPr>
          <p:cNvPr id="3" name="Text Placeholder 2">
            <a:extLst>
              <a:ext uri="{FF2B5EF4-FFF2-40B4-BE49-F238E27FC236}">
                <a16:creationId xmlns:a16="http://schemas.microsoft.com/office/drawing/2014/main" id="{BE14E2CB-27B0-A08B-99EF-4E41994D38E2}"/>
              </a:ext>
            </a:extLst>
          </p:cNvPr>
          <p:cNvSpPr>
            <a:spLocks noGrp="1"/>
          </p:cNvSpPr>
          <p:nvPr>
            <p:ph type="body" idx="1"/>
          </p:nvPr>
        </p:nvSpPr>
        <p:spPr/>
        <p:txBody>
          <a:bodyPr/>
          <a:lstStyle/>
          <a:p>
            <a:pPr marL="76200" indent="0">
              <a:buNone/>
            </a:pPr>
            <a:r>
              <a:rPr lang="en-IN" b="1" dirty="0"/>
              <a:t>Software</a:t>
            </a:r>
          </a:p>
          <a:p>
            <a:r>
              <a:rPr lang="en-IN" dirty="0"/>
              <a:t>Python</a:t>
            </a:r>
          </a:p>
          <a:p>
            <a:r>
              <a:rPr lang="en-IN" dirty="0"/>
              <a:t>Pandas, NumPy</a:t>
            </a:r>
          </a:p>
          <a:p>
            <a:r>
              <a:rPr lang="en-IN" dirty="0"/>
              <a:t>Scikit-learn</a:t>
            </a:r>
          </a:p>
          <a:p>
            <a:r>
              <a:rPr lang="en-IN" dirty="0" err="1"/>
              <a:t>Streamlit</a:t>
            </a:r>
            <a:r>
              <a:rPr lang="en-IN" dirty="0"/>
              <a:t> / Flask</a:t>
            </a:r>
          </a:p>
          <a:p>
            <a:pPr marL="76200" indent="0">
              <a:buNone/>
            </a:pPr>
            <a:r>
              <a:rPr lang="en-IN" b="1" dirty="0"/>
              <a:t>Hardware</a:t>
            </a:r>
          </a:p>
          <a:p>
            <a:r>
              <a:rPr lang="en-IN" dirty="0"/>
              <a:t>Laptop / PC</a:t>
            </a:r>
          </a:p>
          <a:p>
            <a:r>
              <a:rPr lang="en-IN" dirty="0"/>
              <a:t>Minimum 8 GB RAM</a:t>
            </a:r>
          </a:p>
          <a:p>
            <a:endParaRPr lang="en-IN" dirty="0"/>
          </a:p>
        </p:txBody>
      </p:sp>
    </p:spTree>
    <p:extLst>
      <p:ext uri="{BB962C8B-B14F-4D97-AF65-F5344CB8AC3E}">
        <p14:creationId xmlns:p14="http://schemas.microsoft.com/office/powerpoint/2010/main" val="20589859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Github Link</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p:cNvSpPr txBox="1">
            <a:spLocks/>
          </p:cNvSpPr>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
        <p:nvSpPr>
          <p:cNvPr id="5" name="Google Shape;115;p17"/>
          <p:cNvSpPr txBox="1">
            <a:spLocks/>
          </p:cNvSpPr>
          <p:nvPr/>
        </p:nvSpPr>
        <p:spPr>
          <a:xfrm>
            <a:off x="812800" y="1143000"/>
            <a:ext cx="10668000" cy="41783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r>
              <a:rPr lang="en-US" dirty="0">
                <a:latin typeface="Cambria" panose="02040503050406030204" pitchFamily="18" charset="0"/>
                <a:ea typeface="Cambria" panose="02040503050406030204" pitchFamily="18" charset="0"/>
              </a:rPr>
              <a:t>The Github link provided should have public access permission.</a:t>
            </a: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r>
              <a:rPr lang="en-US" b="1" dirty="0">
                <a:solidFill>
                  <a:schemeClr val="accent2">
                    <a:lumMod val="75000"/>
                  </a:schemeClr>
                </a:solidFill>
                <a:latin typeface="Cambria" panose="02040503050406030204" pitchFamily="18" charset="0"/>
                <a:ea typeface="Cambria" panose="02040503050406030204" pitchFamily="18" charset="0"/>
              </a:rPr>
              <a:t>Github Link</a:t>
            </a:r>
          </a:p>
          <a:p>
            <a:pPr marL="342900" indent="-190500" algn="just">
              <a:lnSpc>
                <a:spcPct val="200000"/>
              </a:lnSpc>
              <a:spcBef>
                <a:spcPts val="0"/>
              </a:spcBef>
              <a:buSzPct val="100000"/>
              <a:buNone/>
            </a:pPr>
            <a:r>
              <a:rPr lang="en-US" dirty="0">
                <a:latin typeface="Cambria" panose="02040503050406030204" pitchFamily="18" charset="0"/>
                <a:ea typeface="Cambria" panose="02040503050406030204" pitchFamily="18" charset="0"/>
              </a:rPr>
              <a:t>https://github.com/swati787/</a:t>
            </a:r>
            <a:r>
              <a:rPr lang="en-US" dirty="0">
                <a:latin typeface="Cambria" panose="02040503050406030204" pitchFamily="18" charset="0"/>
                <a:ea typeface="Cambria" panose="02040503050406030204" pitchFamily="18" charset="0"/>
                <a:hlinkClick r:id="rId3"/>
              </a:rPr>
              <a:t>Early-Warning-System-for-Water-Borne-Diseases-in-Rural-Northeast-India</a:t>
            </a: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8563573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9E21AB21-E7A2-7C26-D915-2F3F1665A9AD}"/>
            </a:ext>
          </a:extLst>
        </p:cNvPr>
        <p:cNvGrpSpPr/>
        <p:nvPr/>
      </p:nvGrpSpPr>
      <p:grpSpPr>
        <a:xfrm>
          <a:off x="0" y="0"/>
          <a:ext cx="0" cy="0"/>
          <a:chOff x="0" y="0"/>
          <a:chExt cx="0" cy="0"/>
        </a:xfrm>
      </p:grpSpPr>
      <p:sp>
        <p:nvSpPr>
          <p:cNvPr id="114" name="Google Shape;114;p17">
            <a:extLst>
              <a:ext uri="{FF2B5EF4-FFF2-40B4-BE49-F238E27FC236}">
                <a16:creationId xmlns:a16="http://schemas.microsoft.com/office/drawing/2014/main" id="{83746AF6-3619-2EF3-5F25-A8CC61E49054}"/>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Timeline of the Project (Gantt Chart)</a:t>
            </a:r>
            <a:endParaRPr dirty="0">
              <a:latin typeface="Cambria" panose="02040503050406030204" pitchFamily="18" charset="0"/>
              <a:ea typeface="Cambria" panose="02040503050406030204" pitchFamily="18" charset="0"/>
            </a:endParaRPr>
          </a:p>
        </p:txBody>
      </p:sp>
      <p:sp>
        <p:nvSpPr>
          <p:cNvPr id="115" name="Google Shape;115;p17">
            <a:extLst>
              <a:ext uri="{FF2B5EF4-FFF2-40B4-BE49-F238E27FC236}">
                <a16:creationId xmlns:a16="http://schemas.microsoft.com/office/drawing/2014/main" id="{4DC69662-0124-DA58-7B37-703FBA07403D}"/>
              </a:ext>
            </a:extLst>
          </p:cNvPr>
          <p:cNvSpPr txBox="1">
            <a:spLocks noGrp="1"/>
          </p:cNvSpPr>
          <p:nvPr>
            <p:ph type="body" idx="1"/>
          </p:nvPr>
        </p:nvSpPr>
        <p:spPr>
          <a:xfrm>
            <a:off x="547914" y="1143000"/>
            <a:ext cx="11197771" cy="4846638"/>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AutoShape 2">
            <a:extLst>
              <a:ext uri="{FF2B5EF4-FFF2-40B4-BE49-F238E27FC236}">
                <a16:creationId xmlns:a16="http://schemas.microsoft.com/office/drawing/2014/main" id="{4141544E-CE8C-6B3E-A902-7AF90865B5BE}"/>
              </a:ext>
            </a:extLst>
          </p:cNvPr>
          <p:cNvSpPr>
            <a:spLocks noChangeAspect="1" noChangeArrowheads="1"/>
          </p:cNvSpPr>
          <p:nvPr/>
        </p:nvSpPr>
        <p:spPr bwMode="auto">
          <a:xfrm>
            <a:off x="1045029" y="3276599"/>
            <a:ext cx="5203371" cy="520337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3" name="Picture 2">
            <a:extLst>
              <a:ext uri="{FF2B5EF4-FFF2-40B4-BE49-F238E27FC236}">
                <a16:creationId xmlns:a16="http://schemas.microsoft.com/office/drawing/2014/main" id="{3875D783-DD92-3BDD-4C09-CAE6CF6E5BDD}"/>
              </a:ext>
            </a:extLst>
          </p:cNvPr>
          <p:cNvPicPr>
            <a:picLocks noChangeAspect="1"/>
          </p:cNvPicPr>
          <p:nvPr/>
        </p:nvPicPr>
        <p:blipFill>
          <a:blip r:embed="rId3"/>
          <a:stretch>
            <a:fillRect/>
          </a:stretch>
        </p:blipFill>
        <p:spPr>
          <a:xfrm>
            <a:off x="670769" y="1188715"/>
            <a:ext cx="10476202" cy="4646028"/>
          </a:xfrm>
          <a:prstGeom prst="rect">
            <a:avLst/>
          </a:prstGeom>
        </p:spPr>
      </p:pic>
    </p:spTree>
    <p:extLst>
      <p:ext uri="{BB962C8B-B14F-4D97-AF65-F5344CB8AC3E}">
        <p14:creationId xmlns:p14="http://schemas.microsoft.com/office/powerpoint/2010/main" val="29067124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References (IEEE Paper format)</a:t>
            </a:r>
            <a:endParaRPr dirty="0">
              <a:latin typeface="Cambria" panose="02040503050406030204" pitchFamily="18" charset="0"/>
              <a:ea typeface="Cambria" panose="02040503050406030204" pitchFamily="18" charset="0"/>
            </a:endParaRPr>
          </a:p>
        </p:txBody>
      </p:sp>
      <p:sp>
        <p:nvSpPr>
          <p:cNvPr id="2" name="Text Placeholder 1">
            <a:extLst>
              <a:ext uri="{FF2B5EF4-FFF2-40B4-BE49-F238E27FC236}">
                <a16:creationId xmlns:a16="http://schemas.microsoft.com/office/drawing/2014/main" id="{BB71C89A-E4FC-1579-805E-000D9B480E38}"/>
              </a:ext>
            </a:extLst>
          </p:cNvPr>
          <p:cNvSpPr>
            <a:spLocks noGrp="1" noChangeArrowheads="1"/>
          </p:cNvSpPr>
          <p:nvPr>
            <p:ph type="body" idx="1"/>
          </p:nvPr>
        </p:nvSpPr>
        <p:spPr bwMode="auto">
          <a:xfrm>
            <a:off x="812800" y="1132496"/>
            <a:ext cx="10881894"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spcBef>
                <a:spcPct val="0"/>
              </a:spcBef>
              <a:spcAft>
                <a:spcPct val="0"/>
              </a:spcAft>
              <a:buClrTx/>
              <a:buSzTx/>
              <a:buNone/>
            </a:pPr>
            <a:r>
              <a:rPr lang="en-US" altLang="en-US" sz="2000" dirty="0">
                <a:solidFill>
                  <a:schemeClr val="tx1"/>
                </a:solidFill>
                <a:latin typeface="Arial" panose="020B0604020202020204" pitchFamily="34" charset="0"/>
              </a:rPr>
              <a:t>[1] B. </a:t>
            </a:r>
            <a:r>
              <a:rPr lang="en-US" altLang="en-US" sz="2000" dirty="0" err="1">
                <a:solidFill>
                  <a:schemeClr val="tx1"/>
                </a:solidFill>
                <a:latin typeface="Arial" panose="020B0604020202020204" pitchFamily="34" charset="0"/>
              </a:rPr>
              <a:t>Nemade</a:t>
            </a:r>
            <a:r>
              <a:rPr lang="en-US" altLang="en-US" sz="2000" dirty="0">
                <a:solidFill>
                  <a:schemeClr val="tx1"/>
                </a:solidFill>
                <a:latin typeface="Arial" panose="020B0604020202020204" pitchFamily="34" charset="0"/>
              </a:rPr>
              <a:t> and D. Shah, </a:t>
            </a:r>
            <a:r>
              <a:rPr lang="en-US" altLang="en-US" sz="2000" i="1" dirty="0">
                <a:solidFill>
                  <a:schemeClr val="tx1"/>
                </a:solidFill>
                <a:latin typeface="Arial" panose="020B0604020202020204" pitchFamily="34" charset="0"/>
              </a:rPr>
              <a:t>“IoT-based automated system for water-related disease prediction using ML classifiers,”</a:t>
            </a:r>
            <a:r>
              <a:rPr lang="en-US" altLang="en-US" sz="2000" dirty="0">
                <a:solidFill>
                  <a:schemeClr val="tx1"/>
                </a:solidFill>
                <a:latin typeface="Arial" panose="020B0604020202020204" pitchFamily="34" charset="0"/>
              </a:rPr>
              <a:t> </a:t>
            </a:r>
            <a:r>
              <a:rPr lang="en-US" altLang="en-US" sz="2000" i="1" dirty="0">
                <a:solidFill>
                  <a:schemeClr val="tx1"/>
                </a:solidFill>
                <a:latin typeface="Arial" panose="020B0604020202020204" pitchFamily="34" charset="0"/>
              </a:rPr>
              <a:t>Recent Advances in Computer Science and Communications</a:t>
            </a:r>
            <a:r>
              <a:rPr lang="en-US" altLang="en-US" sz="2000" dirty="0">
                <a:solidFill>
                  <a:schemeClr val="tx1"/>
                </a:solidFill>
                <a:latin typeface="Arial" panose="020B0604020202020204" pitchFamily="34" charset="0"/>
              </a:rPr>
              <a:t>, vol. 19, 2026.</a:t>
            </a:r>
          </a:p>
          <a:p>
            <a:pPr marL="0" lvl="0" indent="0" eaLnBrk="0" fontAlgn="base" hangingPunct="0">
              <a:spcBef>
                <a:spcPct val="0"/>
              </a:spcBef>
              <a:spcAft>
                <a:spcPct val="0"/>
              </a:spcAft>
              <a:buClrTx/>
              <a:buSzTx/>
              <a:buNone/>
            </a:pPr>
            <a:r>
              <a:rPr lang="en-US" altLang="en-US" sz="2000" dirty="0">
                <a:solidFill>
                  <a:schemeClr val="tx1"/>
                </a:solidFill>
                <a:latin typeface="Arial" panose="020B0604020202020204" pitchFamily="34" charset="0"/>
              </a:rPr>
              <a:t> </a:t>
            </a:r>
          </a:p>
          <a:p>
            <a:pPr marL="0" lvl="0" indent="0" eaLnBrk="0" fontAlgn="base" hangingPunct="0">
              <a:spcBef>
                <a:spcPct val="0"/>
              </a:spcBef>
              <a:spcAft>
                <a:spcPct val="0"/>
              </a:spcAft>
              <a:buClrTx/>
              <a:buSzTx/>
              <a:buNone/>
            </a:pPr>
            <a:r>
              <a:rPr lang="en-US" altLang="en-US" sz="2000" dirty="0">
                <a:solidFill>
                  <a:schemeClr val="tx1"/>
                </a:solidFill>
                <a:latin typeface="Arial" panose="020B0604020202020204" pitchFamily="34" charset="0"/>
              </a:rPr>
              <a:t>[2] </a:t>
            </a:r>
            <a:r>
              <a:rPr lang="en-US" altLang="en-US" sz="2000" dirty="0" err="1">
                <a:solidFill>
                  <a:schemeClr val="tx1"/>
                </a:solidFill>
                <a:latin typeface="Arial" panose="020B0604020202020204" pitchFamily="34" charset="0"/>
              </a:rPr>
              <a:t>A.Mohammadpour</a:t>
            </a:r>
            <a:r>
              <a:rPr lang="en-US" altLang="en-US" sz="2000" dirty="0">
                <a:solidFill>
                  <a:schemeClr val="tx1"/>
                </a:solidFill>
                <a:latin typeface="Arial" panose="020B0604020202020204" pitchFamily="34" charset="0"/>
              </a:rPr>
              <a:t>, </a:t>
            </a:r>
            <a:r>
              <a:rPr lang="en-US" altLang="en-US" sz="2000" i="1" dirty="0">
                <a:solidFill>
                  <a:schemeClr val="tx1"/>
                </a:solidFill>
                <a:latin typeface="Arial" panose="020B0604020202020204" pitchFamily="34" charset="0"/>
              </a:rPr>
              <a:t>“Advanced water quality assessment using machine learning,”</a:t>
            </a:r>
            <a:r>
              <a:rPr lang="en-US" altLang="en-US" sz="2000" dirty="0">
                <a:solidFill>
                  <a:schemeClr val="tx1"/>
                </a:solidFill>
                <a:latin typeface="Arial" panose="020B0604020202020204" pitchFamily="34" charset="0"/>
              </a:rPr>
              <a:t> </a:t>
            </a:r>
            <a:r>
              <a:rPr lang="en-US" altLang="en-US" sz="2000" i="1" dirty="0">
                <a:solidFill>
                  <a:schemeClr val="tx1"/>
                </a:solidFill>
                <a:latin typeface="Arial" panose="020B0604020202020204" pitchFamily="34" charset="0"/>
              </a:rPr>
              <a:t>ScienceDirect</a:t>
            </a:r>
            <a:r>
              <a:rPr lang="en-US" altLang="en-US" sz="2000" dirty="0">
                <a:solidFill>
                  <a:schemeClr val="tx1"/>
                </a:solidFill>
                <a:latin typeface="Arial" panose="020B0604020202020204" pitchFamily="34" charset="0"/>
              </a:rPr>
              <a:t>, 2025. </a:t>
            </a:r>
          </a:p>
          <a:p>
            <a:pPr marL="0" lvl="0" indent="0" eaLnBrk="0" fontAlgn="base" hangingPunct="0">
              <a:spcBef>
                <a:spcPct val="0"/>
              </a:spcBef>
              <a:spcAft>
                <a:spcPct val="0"/>
              </a:spcAft>
              <a:buClrTx/>
              <a:buSzTx/>
              <a:buNone/>
            </a:pPr>
            <a:endParaRPr lang="en-US" altLang="en-US" sz="2000" dirty="0">
              <a:solidFill>
                <a:schemeClr val="tx1"/>
              </a:solidFill>
              <a:latin typeface="Arial" panose="020B0604020202020204" pitchFamily="34" charset="0"/>
            </a:endParaRPr>
          </a:p>
          <a:p>
            <a:pPr marL="0" lvl="0" indent="0" eaLnBrk="0" fontAlgn="base" hangingPunct="0">
              <a:spcBef>
                <a:spcPct val="0"/>
              </a:spcBef>
              <a:spcAft>
                <a:spcPct val="0"/>
              </a:spcAft>
              <a:buClrTx/>
              <a:buSzTx/>
              <a:buNone/>
            </a:pPr>
            <a:r>
              <a:rPr lang="en-US" altLang="en-US" sz="2000" dirty="0">
                <a:solidFill>
                  <a:schemeClr val="tx1"/>
                </a:solidFill>
                <a:latin typeface="Arial" panose="020B0604020202020204" pitchFamily="34" charset="0"/>
              </a:rPr>
              <a:t>[3] </a:t>
            </a:r>
            <a:r>
              <a:rPr lang="en-US" altLang="en-US" sz="2000" dirty="0" err="1">
                <a:solidFill>
                  <a:schemeClr val="tx1"/>
                </a:solidFill>
                <a:latin typeface="Arial" panose="020B0604020202020204" pitchFamily="34" charset="0"/>
              </a:rPr>
              <a:t>I.Villanueva</a:t>
            </a:r>
            <a:r>
              <a:rPr lang="en-US" altLang="en-US" sz="2000" dirty="0">
                <a:solidFill>
                  <a:schemeClr val="tx1"/>
                </a:solidFill>
                <a:latin typeface="Arial" panose="020B0604020202020204" pitchFamily="34" charset="0"/>
              </a:rPr>
              <a:t>-Miranda et al., </a:t>
            </a:r>
            <a:r>
              <a:rPr lang="en-US" altLang="en-US" sz="2000" i="1" dirty="0">
                <a:solidFill>
                  <a:schemeClr val="tx1"/>
                </a:solidFill>
                <a:latin typeface="Arial" panose="020B0604020202020204" pitchFamily="34" charset="0"/>
              </a:rPr>
              <a:t>“Artificial intelligence in early warning systems for infectious diseases,”</a:t>
            </a:r>
            <a:r>
              <a:rPr lang="en-US" altLang="en-US" sz="2000" dirty="0">
                <a:solidFill>
                  <a:schemeClr val="tx1"/>
                </a:solidFill>
                <a:latin typeface="Arial" panose="020B0604020202020204" pitchFamily="34" charset="0"/>
              </a:rPr>
              <a:t> </a:t>
            </a:r>
            <a:r>
              <a:rPr lang="en-US" altLang="en-US" sz="2000" i="1" dirty="0">
                <a:solidFill>
                  <a:schemeClr val="tx1"/>
                </a:solidFill>
                <a:latin typeface="Arial" panose="020B0604020202020204" pitchFamily="34" charset="0"/>
              </a:rPr>
              <a:t>PMC</a:t>
            </a:r>
            <a:r>
              <a:rPr lang="en-US" altLang="en-US" sz="2000" dirty="0">
                <a:solidFill>
                  <a:schemeClr val="tx1"/>
                </a:solidFill>
                <a:latin typeface="Arial" panose="020B0604020202020204" pitchFamily="34" charset="0"/>
              </a:rPr>
              <a:t> (PubMed Central), 2025. </a:t>
            </a:r>
          </a:p>
          <a:p>
            <a:pPr marL="0" lvl="0" indent="0" eaLnBrk="0" fontAlgn="base" hangingPunct="0">
              <a:spcBef>
                <a:spcPct val="0"/>
              </a:spcBef>
              <a:spcAft>
                <a:spcPct val="0"/>
              </a:spcAft>
              <a:buClrTx/>
              <a:buSzTx/>
              <a:buNone/>
            </a:pPr>
            <a:endParaRPr lang="en-US" altLang="en-US" sz="2000" dirty="0">
              <a:solidFill>
                <a:schemeClr val="tx1"/>
              </a:solidFill>
              <a:latin typeface="Arial" panose="020B0604020202020204" pitchFamily="34" charset="0"/>
            </a:endParaRPr>
          </a:p>
          <a:p>
            <a:pPr marL="0" lvl="0" indent="0" eaLnBrk="0" fontAlgn="base" hangingPunct="0">
              <a:spcBef>
                <a:spcPct val="0"/>
              </a:spcBef>
              <a:spcAft>
                <a:spcPct val="0"/>
              </a:spcAft>
              <a:buClrTx/>
              <a:buSzTx/>
              <a:buNone/>
            </a:pPr>
            <a:r>
              <a:rPr lang="en-US" altLang="en-US" sz="2000" dirty="0">
                <a:solidFill>
                  <a:schemeClr val="tx1"/>
                </a:solidFill>
                <a:latin typeface="Arial" panose="020B0604020202020204" pitchFamily="34" charset="0"/>
              </a:rPr>
              <a:t>[4] F. Abbas, </a:t>
            </a:r>
            <a:r>
              <a:rPr lang="en-US" altLang="en-US" sz="2000" i="1" dirty="0">
                <a:solidFill>
                  <a:schemeClr val="tx1"/>
                </a:solidFill>
                <a:latin typeface="Arial" panose="020B0604020202020204" pitchFamily="34" charset="0"/>
              </a:rPr>
              <a:t>“Machine learning models for water quality prediction,”</a:t>
            </a:r>
            <a:r>
              <a:rPr lang="en-US" altLang="en-US" sz="2000" dirty="0">
                <a:solidFill>
                  <a:schemeClr val="tx1"/>
                </a:solidFill>
                <a:latin typeface="Arial" panose="020B0604020202020204" pitchFamily="34" charset="0"/>
              </a:rPr>
              <a:t> </a:t>
            </a:r>
            <a:r>
              <a:rPr lang="en-US" altLang="en-US" sz="2000" i="1" dirty="0">
                <a:solidFill>
                  <a:schemeClr val="tx1"/>
                </a:solidFill>
                <a:latin typeface="Arial" panose="020B0604020202020204" pitchFamily="34" charset="0"/>
              </a:rPr>
              <a:t>Water (MDPI)</a:t>
            </a:r>
            <a:r>
              <a:rPr lang="en-US" altLang="en-US" sz="2000" dirty="0">
                <a:solidFill>
                  <a:schemeClr val="tx1"/>
                </a:solidFill>
                <a:latin typeface="Arial" panose="020B0604020202020204" pitchFamily="34" charset="0"/>
              </a:rPr>
              <a:t>, vol. 16, no. 7, 2024. </a:t>
            </a:r>
          </a:p>
          <a:p>
            <a:pPr marL="0" lvl="0" indent="0" eaLnBrk="0" fontAlgn="base" hangingPunct="0">
              <a:spcBef>
                <a:spcPct val="0"/>
              </a:spcBef>
              <a:spcAft>
                <a:spcPct val="0"/>
              </a:spcAft>
              <a:buClrTx/>
              <a:buSzTx/>
              <a:buNone/>
            </a:pPr>
            <a:endParaRPr lang="en-US" altLang="en-US" sz="2000" dirty="0">
              <a:solidFill>
                <a:schemeClr val="tx1"/>
              </a:solidFill>
              <a:latin typeface="Arial" panose="020B0604020202020204" pitchFamily="34" charset="0"/>
            </a:endParaRPr>
          </a:p>
          <a:p>
            <a:pPr marL="0" lvl="0" indent="0" eaLnBrk="0" fontAlgn="base" hangingPunct="0">
              <a:spcBef>
                <a:spcPct val="0"/>
              </a:spcBef>
              <a:spcAft>
                <a:spcPct val="0"/>
              </a:spcAft>
              <a:buClrTx/>
              <a:buSzTx/>
              <a:buNone/>
            </a:pPr>
            <a:r>
              <a:rPr lang="en-US" altLang="en-US" sz="2000" dirty="0">
                <a:solidFill>
                  <a:schemeClr val="tx1"/>
                </a:solidFill>
                <a:latin typeface="Arial" panose="020B0604020202020204" pitchFamily="34" charset="0"/>
              </a:rPr>
              <a:t>[5] I. Kaur, </a:t>
            </a:r>
            <a:r>
              <a:rPr lang="en-US" altLang="en-US" sz="2000" i="1" dirty="0">
                <a:solidFill>
                  <a:schemeClr val="tx1"/>
                </a:solidFill>
                <a:latin typeface="Arial" panose="020B0604020202020204" pitchFamily="34" charset="0"/>
              </a:rPr>
              <a:t>“Water Quality Assessment using Machine Learning,”</a:t>
            </a:r>
            <a:r>
              <a:rPr lang="en-US" altLang="en-US" sz="2000" dirty="0">
                <a:solidFill>
                  <a:schemeClr val="tx1"/>
                </a:solidFill>
                <a:latin typeface="Arial" panose="020B0604020202020204" pitchFamily="34" charset="0"/>
              </a:rPr>
              <a:t> </a:t>
            </a:r>
            <a:r>
              <a:rPr lang="en-US" altLang="en-US" sz="2000" i="1" dirty="0">
                <a:solidFill>
                  <a:schemeClr val="tx1"/>
                </a:solidFill>
                <a:latin typeface="Arial" panose="020B0604020202020204" pitchFamily="34" charset="0"/>
              </a:rPr>
              <a:t>AJWEP Journal</a:t>
            </a:r>
            <a:r>
              <a:rPr lang="en-US" altLang="en-US" sz="2000" dirty="0">
                <a:solidFill>
                  <a:schemeClr val="tx1"/>
                </a:solidFill>
                <a:latin typeface="Arial" panose="020B0604020202020204" pitchFamily="34" charset="0"/>
              </a:rPr>
              <a:t>, 2024.</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0FDD829B-EA43-88F2-9F3A-6B7834C37B2B}"/>
            </a:ext>
          </a:extLst>
        </p:cNvPr>
        <p:cNvGrpSpPr/>
        <p:nvPr/>
      </p:nvGrpSpPr>
      <p:grpSpPr>
        <a:xfrm>
          <a:off x="0" y="0"/>
          <a:ext cx="0" cy="0"/>
          <a:chOff x="0" y="0"/>
          <a:chExt cx="0" cy="0"/>
        </a:xfrm>
      </p:grpSpPr>
      <p:sp>
        <p:nvSpPr>
          <p:cNvPr id="144" name="Google Shape;144;p22">
            <a:extLst>
              <a:ext uri="{FF2B5EF4-FFF2-40B4-BE49-F238E27FC236}">
                <a16:creationId xmlns:a16="http://schemas.microsoft.com/office/drawing/2014/main" id="{B19B2C03-AA42-EBBB-2471-181BB2EAED7E}"/>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References (IEEE Paper format)</a:t>
            </a:r>
            <a:endParaRPr dirty="0">
              <a:latin typeface="Cambria" panose="02040503050406030204" pitchFamily="18" charset="0"/>
              <a:ea typeface="Cambria" panose="02040503050406030204" pitchFamily="18" charset="0"/>
            </a:endParaRPr>
          </a:p>
        </p:txBody>
      </p:sp>
      <p:sp>
        <p:nvSpPr>
          <p:cNvPr id="2" name="Text Placeholder 1">
            <a:extLst>
              <a:ext uri="{FF2B5EF4-FFF2-40B4-BE49-F238E27FC236}">
                <a16:creationId xmlns:a16="http://schemas.microsoft.com/office/drawing/2014/main" id="{57C3BB6B-D68B-DDD4-455E-4657DD56D64C}"/>
              </a:ext>
            </a:extLst>
          </p:cNvPr>
          <p:cNvSpPr>
            <a:spLocks noGrp="1" noChangeArrowheads="1"/>
          </p:cNvSpPr>
          <p:nvPr>
            <p:ph type="body" idx="1"/>
          </p:nvPr>
        </p:nvSpPr>
        <p:spPr bwMode="auto">
          <a:xfrm>
            <a:off x="727588" y="967211"/>
            <a:ext cx="10951066"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[6] R. Baena-Navarro, </a:t>
            </a:r>
            <a:r>
              <a:rPr kumimoji="0" lang="en-US" altLang="en-US" sz="1800" b="0" i="1" u="none" strike="noStrike" cap="none" normalizeH="0" baseline="0" dirty="0">
                <a:ln>
                  <a:noFill/>
                </a:ln>
                <a:solidFill>
                  <a:schemeClr val="tx1"/>
                </a:solidFill>
                <a:effectLst/>
                <a:latin typeface="Arial" panose="020B0604020202020204" pitchFamily="34" charset="0"/>
              </a:rPr>
              <a:t>“Intelligent prediction and continuous monitoring of water quality using ML and IoT,”</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1" u="none" strike="noStrike" cap="none" normalizeH="0" baseline="0" dirty="0">
                <a:ln>
                  <a:noFill/>
                </a:ln>
                <a:solidFill>
                  <a:schemeClr val="tx1"/>
                </a:solidFill>
                <a:effectLst/>
                <a:latin typeface="Arial" panose="020B0604020202020204" pitchFamily="34" charset="0"/>
              </a:rPr>
              <a:t>Water (MDPI)</a:t>
            </a:r>
            <a:r>
              <a:rPr kumimoji="0" lang="en-US" altLang="en-US" sz="1800" b="0" i="0" u="none" strike="noStrike" cap="none" normalizeH="0" baseline="0" dirty="0">
                <a:ln>
                  <a:noFill/>
                </a:ln>
                <a:solidFill>
                  <a:schemeClr val="tx1"/>
                </a:solidFill>
                <a:effectLst/>
                <a:latin typeface="Arial" panose="020B0604020202020204" pitchFamily="34" charset="0"/>
              </a:rPr>
              <a:t>, vol. 17, no. 1, 2025. </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1" u="none" strike="noStrike" cap="none" normalizeH="0" baseline="0" dirty="0">
                <a:ln>
                  <a:noFill/>
                </a:ln>
                <a:solidFill>
                  <a:schemeClr val="tx1"/>
                </a:solidFill>
                <a:effectLst/>
                <a:latin typeface="Arial" panose="020B0604020202020204" pitchFamily="34" charset="0"/>
              </a:rPr>
              <a:t>[7] “Machine learning and explainable AI for prevention of waterborne cryptosporidiosis and </a:t>
            </a:r>
            <a:r>
              <a:rPr kumimoji="0" lang="en-US" altLang="en-US" sz="1800" b="0" i="1" u="none" strike="noStrike" cap="none" normalizeH="0" baseline="0" dirty="0" err="1">
                <a:ln>
                  <a:noFill/>
                </a:ln>
                <a:solidFill>
                  <a:schemeClr val="tx1"/>
                </a:solidFill>
                <a:effectLst/>
                <a:latin typeface="Arial" panose="020B0604020202020204" pitchFamily="34" charset="0"/>
              </a:rPr>
              <a:t>giardiosis</a:t>
            </a:r>
            <a:r>
              <a:rPr kumimoji="0" lang="en-US" altLang="en-US" sz="1800" b="0" i="1" u="none" strike="noStrike" cap="none" normalizeH="0" baseline="0" dirty="0">
                <a:ln>
                  <a:noFill/>
                </a:ln>
                <a:solidFill>
                  <a:schemeClr val="tx1"/>
                </a:solidFill>
                <a:effectLst/>
                <a:latin typeface="Arial" panose="020B0604020202020204" pitchFamily="34" charset="0"/>
              </a:rPr>
              <a:t>,”</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1" u="none" strike="noStrike" cap="none" normalizeH="0" baseline="0" dirty="0">
                <a:ln>
                  <a:noFill/>
                </a:ln>
                <a:solidFill>
                  <a:schemeClr val="tx1"/>
                </a:solidFill>
                <a:effectLst/>
                <a:latin typeface="Arial" panose="020B0604020202020204" pitchFamily="34" charset="0"/>
              </a:rPr>
              <a:t>ScienceDirect</a:t>
            </a:r>
            <a:r>
              <a:rPr kumimoji="0" lang="en-US" altLang="en-US" sz="1800" b="0" i="0" u="none" strike="noStrike" cap="none" normalizeH="0" baseline="0" dirty="0">
                <a:ln>
                  <a:noFill/>
                </a:ln>
                <a:solidFill>
                  <a:schemeClr val="tx1"/>
                </a:solidFill>
                <a:effectLst/>
                <a:latin typeface="Arial" panose="020B0604020202020204" pitchFamily="34" charset="0"/>
              </a:rPr>
              <a:t>, 2024 (</a:t>
            </a:r>
            <a:r>
              <a:rPr kumimoji="0" lang="en-US" altLang="en-US" sz="1800" b="0" i="0" u="none" strike="noStrike" cap="none" normalizeH="0" baseline="0" dirty="0" err="1">
                <a:ln>
                  <a:noFill/>
                </a:ln>
                <a:solidFill>
                  <a:schemeClr val="tx1"/>
                </a:solidFill>
                <a:effectLst/>
                <a:latin typeface="Arial" panose="020B0604020202020204" pitchFamily="34" charset="0"/>
              </a:rPr>
              <a:t>XGBoost</a:t>
            </a:r>
            <a:r>
              <a:rPr kumimoji="0" lang="en-US" altLang="en-US" sz="1800" b="0" i="0" u="none" strike="noStrike" cap="none" normalizeH="0" baseline="0" dirty="0">
                <a:ln>
                  <a:noFill/>
                </a:ln>
                <a:solidFill>
                  <a:schemeClr val="tx1"/>
                </a:solidFill>
                <a:effectLst/>
                <a:latin typeface="Arial" panose="020B0604020202020204" pitchFamily="34" charset="0"/>
              </a:rPr>
              <a:t> &amp; RF models). </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1" u="none" strike="noStrike" cap="none" normalizeH="0" baseline="0" dirty="0">
                <a:ln>
                  <a:noFill/>
                </a:ln>
                <a:solidFill>
                  <a:schemeClr val="tx1"/>
                </a:solidFill>
                <a:effectLst/>
                <a:latin typeface="Arial" panose="020B0604020202020204" pitchFamily="34" charset="0"/>
              </a:rPr>
              <a:t>[8] “Machine learning and </a:t>
            </a:r>
            <a:r>
              <a:rPr kumimoji="0" lang="en-US" altLang="en-US" sz="1800" b="0" i="1" u="none" strike="noStrike" cap="none" normalizeH="0" baseline="0" dirty="0" err="1">
                <a:ln>
                  <a:noFill/>
                </a:ln>
                <a:solidFill>
                  <a:schemeClr val="tx1"/>
                </a:solidFill>
                <a:effectLst/>
                <a:latin typeface="Arial" panose="020B0604020202020204" pitchFamily="34" charset="0"/>
              </a:rPr>
              <a:t>spatio</a:t>
            </a:r>
            <a:r>
              <a:rPr kumimoji="0" lang="en-US" altLang="en-US" sz="1800" b="0" i="1" u="none" strike="noStrike" cap="none" normalizeH="0" baseline="0" dirty="0">
                <a:ln>
                  <a:noFill/>
                </a:ln>
                <a:solidFill>
                  <a:schemeClr val="tx1"/>
                </a:solidFill>
                <a:effectLst/>
                <a:latin typeface="Arial" panose="020B0604020202020204" pitchFamily="34" charset="0"/>
              </a:rPr>
              <a:t>-temporal analysis of meteorological drivers for waterborne diseases,”</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1" u="none" strike="noStrike" cap="none" normalizeH="0" baseline="0" dirty="0">
                <a:ln>
                  <a:noFill/>
                </a:ln>
                <a:solidFill>
                  <a:schemeClr val="tx1"/>
                </a:solidFill>
                <a:effectLst/>
                <a:latin typeface="Arial" panose="020B0604020202020204" pitchFamily="34" charset="0"/>
              </a:rPr>
              <a:t>PLOS Neglected Tropical Diseases</a:t>
            </a:r>
            <a:r>
              <a:rPr kumimoji="0" lang="en-US" altLang="en-US" sz="1800" b="0" i="0" u="none" strike="noStrike" cap="none" normalizeH="0" baseline="0" dirty="0">
                <a:ln>
                  <a:noFill/>
                </a:ln>
                <a:solidFill>
                  <a:schemeClr val="tx1"/>
                </a:solidFill>
                <a:effectLst/>
                <a:latin typeface="Arial" panose="020B0604020202020204" pitchFamily="34" charset="0"/>
              </a:rPr>
              <a:t>, 2024. </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1" u="none" strike="noStrike" cap="none" normalizeH="0" baseline="0" dirty="0">
                <a:ln>
                  <a:noFill/>
                </a:ln>
                <a:solidFill>
                  <a:schemeClr val="tx1"/>
                </a:solidFill>
                <a:effectLst/>
                <a:latin typeface="Arial" panose="020B0604020202020204" pitchFamily="34" charset="0"/>
              </a:rPr>
              <a:t>[9] “Assessment of ML for predicting weather-sensitive waterborne diseases,”</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1" u="none" strike="noStrike" cap="none" normalizeH="0" baseline="0" dirty="0">
                <a:ln>
                  <a:noFill/>
                </a:ln>
                <a:solidFill>
                  <a:schemeClr val="tx1"/>
                </a:solidFill>
                <a:effectLst/>
                <a:latin typeface="Arial" panose="020B0604020202020204" pitchFamily="34" charset="0"/>
              </a:rPr>
              <a:t>Frontiers in Artificial Intelligence</a:t>
            </a:r>
            <a:r>
              <a:rPr kumimoji="0" lang="en-US" altLang="en-US" sz="1800" b="0" i="0" u="none" strike="noStrike" cap="none" normalizeH="0" baseline="0" dirty="0">
                <a:ln>
                  <a:noFill/>
                </a:ln>
                <a:solidFill>
                  <a:schemeClr val="tx1"/>
                </a:solidFill>
                <a:effectLst/>
                <a:latin typeface="Arial" panose="020B0604020202020204" pitchFamily="34" charset="0"/>
              </a:rPr>
              <a:t>, 2025. </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1" u="none" strike="noStrike" cap="none" normalizeH="0" baseline="0" dirty="0">
                <a:ln>
                  <a:noFill/>
                </a:ln>
                <a:solidFill>
                  <a:schemeClr val="tx1"/>
                </a:solidFill>
                <a:effectLst/>
                <a:latin typeface="Arial" panose="020B0604020202020204" pitchFamily="34" charset="0"/>
              </a:rPr>
              <a:t>[10] “Machine learning-based classification of waterborne diseases using advanced analytics,”</a:t>
            </a:r>
            <a:r>
              <a:rPr kumimoji="0" lang="en-US" altLang="en-US" sz="1800" b="0" i="0" u="none" strike="noStrike" cap="none" normalizeH="0" baseline="0" dirty="0">
                <a:ln>
                  <a:noFill/>
                </a:ln>
                <a:solidFill>
                  <a:schemeClr val="tx1"/>
                </a:solidFill>
                <a:effectLst/>
                <a:latin typeface="Arial" panose="020B0604020202020204" pitchFamily="34" charset="0"/>
              </a:rPr>
              <a:t> ResearchGate, 2025. </a:t>
            </a:r>
          </a:p>
        </p:txBody>
      </p:sp>
    </p:spTree>
    <p:extLst>
      <p:ext uri="{BB962C8B-B14F-4D97-AF65-F5344CB8AC3E}">
        <p14:creationId xmlns:p14="http://schemas.microsoft.com/office/powerpoint/2010/main" val="8630856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a:extLst>
              <a:ext uri="{FF2B5EF4-FFF2-40B4-BE49-F238E27FC236}">
                <a16:creationId xmlns:a16="http://schemas.microsoft.com/office/drawing/2014/main" id="{C63A00FF-89F0-DC87-D900-930227B33E5D}"/>
              </a:ext>
            </a:extLst>
          </p:cNvPr>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1911</TotalTime>
  <Words>1126</Words>
  <Application>Microsoft Office PowerPoint</Application>
  <PresentationFormat>Widescreen</PresentationFormat>
  <Paragraphs>153</Paragraphs>
  <Slides>18</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Cambria</vt:lpstr>
      <vt:lpstr>Verdana</vt:lpstr>
      <vt:lpstr>Wingdings</vt:lpstr>
      <vt:lpstr>Bioinformatics</vt:lpstr>
      <vt:lpstr>Smart Community Health Monitoring and Early Warning System for Water-Borne Diseases in Rural Northeast India</vt:lpstr>
      <vt:lpstr>Content</vt:lpstr>
      <vt:lpstr>ABSTRACT</vt:lpstr>
      <vt:lpstr>PROBLEM STATEMENT</vt:lpstr>
      <vt:lpstr>OBJECTIVES</vt:lpstr>
      <vt:lpstr>Literature Survey</vt:lpstr>
      <vt:lpstr>EXISTING METHODS &amp; DRAWBACKS</vt:lpstr>
      <vt:lpstr>PROPOSED SYSTEM</vt:lpstr>
      <vt:lpstr>METHODOLOGY</vt:lpstr>
      <vt:lpstr>SYSTEM ARCHITECTURE</vt:lpstr>
      <vt:lpstr>MODULES</vt:lpstr>
      <vt:lpstr>PowerPoint Presentation</vt:lpstr>
      <vt:lpstr>HARDWARE &amp; SOFTWARE REQUIREMENTS</vt:lpstr>
      <vt:lpstr>Github Link</vt:lpstr>
      <vt:lpstr>Timeline of the Project (Gantt Chart)</vt:lpstr>
      <vt:lpstr>References (IEEE Paper format)</vt:lpstr>
      <vt:lpstr>References (IEEE Paper format)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SWATI PATILKULKARNI</cp:lastModifiedBy>
  <cp:revision>54</cp:revision>
  <dcterms:modified xsi:type="dcterms:W3CDTF">2026-04-21T10:30:52Z</dcterms:modified>
</cp:coreProperties>
</file>